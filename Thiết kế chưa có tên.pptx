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Noto Sans Bold" charset="1" panose="020B0802040504020204"/>
      <p:regular r:id="rId23"/>
    </p:embeddedFont>
    <p:embeddedFont>
      <p:font typeface="Be Vietnam Ultra-Bold" charset="1" panose="00000900000000000000"/>
      <p:regular r:id="rId24"/>
    </p:embeddedFont>
    <p:embeddedFont>
      <p:font typeface="Noto Sans" charset="1" panose="020B050204050402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1A2B"/>
        </a:solidFill>
      </p:bgPr>
    </p:bg>
    <p:spTree>
      <p:nvGrpSpPr>
        <p:cNvPr id="1" name=""/>
        <p:cNvGrpSpPr/>
        <p:nvPr/>
      </p:nvGrpSpPr>
      <p:grpSpPr>
        <a:xfrm>
          <a:off x="0" y="0"/>
          <a:ext cx="0" cy="0"/>
          <a:chOff x="0" y="0"/>
          <a:chExt cx="0" cy="0"/>
        </a:xfrm>
      </p:grpSpPr>
      <p:grpSp>
        <p:nvGrpSpPr>
          <p:cNvPr name="Group 2" id="2"/>
          <p:cNvGrpSpPr/>
          <p:nvPr/>
        </p:nvGrpSpPr>
        <p:grpSpPr>
          <a:xfrm rot="0">
            <a:off x="10572750" y="0"/>
            <a:ext cx="7715250" cy="10287000"/>
            <a:chOff x="0" y="0"/>
            <a:chExt cx="10287000" cy="13716000"/>
          </a:xfrm>
        </p:grpSpPr>
        <p:sp>
          <p:nvSpPr>
            <p:cNvPr name="Freeform 3" id="3"/>
            <p:cNvSpPr/>
            <p:nvPr/>
          </p:nvSpPr>
          <p:spPr>
            <a:xfrm flipH="false" flipV="false" rot="0">
              <a:off x="0" y="0"/>
              <a:ext cx="10287000" cy="13716000"/>
            </a:xfrm>
            <a:custGeom>
              <a:avLst/>
              <a:gdLst/>
              <a:ahLst/>
              <a:cxnLst/>
              <a:rect r="r" b="b" t="t" l="l"/>
              <a:pathLst>
                <a:path h="13716000" w="10287000">
                  <a:moveTo>
                    <a:pt x="0" y="0"/>
                  </a:moveTo>
                  <a:lnTo>
                    <a:pt x="10287000" y="0"/>
                  </a:lnTo>
                  <a:lnTo>
                    <a:pt x="10287000" y="13716000"/>
                  </a:lnTo>
                  <a:lnTo>
                    <a:pt x="0" y="13716000"/>
                  </a:lnTo>
                  <a:close/>
                </a:path>
              </a:pathLst>
            </a:custGeom>
            <a:solidFill>
              <a:srgbClr val="071A2B"/>
            </a:solidFill>
            <a:ln cap="sq">
              <a:noFill/>
              <a:prstDash val="solid"/>
              <a:miter/>
            </a:ln>
          </p:spPr>
        </p:sp>
        <p:sp>
          <p:nvSpPr>
            <p:cNvPr name="TextBox 4" id="4"/>
            <p:cNvSpPr txBox="true"/>
            <p:nvPr/>
          </p:nvSpPr>
          <p:spPr>
            <a:xfrm>
              <a:off x="0" y="-38100"/>
              <a:ext cx="10287000" cy="13754100"/>
            </a:xfrm>
            <a:prstGeom prst="rect">
              <a:avLst/>
            </a:prstGeom>
          </p:spPr>
          <p:txBody>
            <a:bodyPr anchor="ctr" rtlCol="false" tIns="50800" lIns="50800" bIns="50800" rIns="50800"/>
            <a:lstStyle/>
            <a:p>
              <a:pPr algn="l">
                <a:lnSpc>
                  <a:spcPts val="1679"/>
                </a:lnSpc>
              </a:pPr>
            </a:p>
          </p:txBody>
        </p:sp>
      </p:grpSp>
      <p:sp>
        <p:nvSpPr>
          <p:cNvPr name="Freeform 5" id="5"/>
          <p:cNvSpPr/>
          <p:nvPr/>
        </p:nvSpPr>
        <p:spPr>
          <a:xfrm flipH="false" flipV="false" rot="0">
            <a:off x="11525250" y="666750"/>
            <a:ext cx="5715000" cy="8953500"/>
          </a:xfrm>
          <a:custGeom>
            <a:avLst/>
            <a:gdLst/>
            <a:ahLst/>
            <a:cxnLst/>
            <a:rect r="r" b="b" t="t" l="l"/>
            <a:pathLst>
              <a:path h="8953500" w="5715000">
                <a:moveTo>
                  <a:pt x="0" y="0"/>
                </a:moveTo>
                <a:lnTo>
                  <a:pt x="5715000" y="0"/>
                </a:lnTo>
                <a:lnTo>
                  <a:pt x="5715000" y="8953500"/>
                </a:lnTo>
                <a:lnTo>
                  <a:pt x="0" y="8953500"/>
                </a:lnTo>
                <a:lnTo>
                  <a:pt x="0" y="0"/>
                </a:lnTo>
                <a:close/>
              </a:path>
            </a:pathLst>
          </a:custGeom>
          <a:blipFill>
            <a:blip r:embed="rId2"/>
            <a:stretch>
              <a:fillRect l="-2189" t="0" r="-2189" b="0"/>
            </a:stretch>
          </a:blipFill>
          <a:ln cap="sq">
            <a:noFill/>
            <a:prstDash val="solid"/>
            <a:miter/>
          </a:ln>
        </p:spPr>
      </p:sp>
      <p:grpSp>
        <p:nvGrpSpPr>
          <p:cNvPr name="Group 6" id="6"/>
          <p:cNvGrpSpPr/>
          <p:nvPr/>
        </p:nvGrpSpPr>
        <p:grpSpPr>
          <a:xfrm rot="0">
            <a:off x="990600" y="1123950"/>
            <a:ext cx="723900" cy="95250"/>
            <a:chOff x="0" y="0"/>
            <a:chExt cx="965200" cy="127000"/>
          </a:xfrm>
        </p:grpSpPr>
        <p:sp>
          <p:nvSpPr>
            <p:cNvPr name="Freeform 7" id="7"/>
            <p:cNvSpPr/>
            <p:nvPr/>
          </p:nvSpPr>
          <p:spPr>
            <a:xfrm flipH="false" flipV="false" rot="0">
              <a:off x="0" y="0"/>
              <a:ext cx="965200" cy="127000"/>
            </a:xfrm>
            <a:custGeom>
              <a:avLst/>
              <a:gdLst/>
              <a:ahLst/>
              <a:cxnLst/>
              <a:rect r="r" b="b" t="t" l="l"/>
              <a:pathLst>
                <a:path h="127000" w="965200">
                  <a:moveTo>
                    <a:pt x="0" y="0"/>
                  </a:moveTo>
                  <a:lnTo>
                    <a:pt x="965200" y="0"/>
                  </a:lnTo>
                  <a:lnTo>
                    <a:pt x="965200" y="127000"/>
                  </a:lnTo>
                  <a:lnTo>
                    <a:pt x="0" y="127000"/>
                  </a:lnTo>
                  <a:close/>
                </a:path>
              </a:pathLst>
            </a:custGeom>
            <a:solidFill>
              <a:srgbClr val="55D6BE"/>
            </a:solidFill>
            <a:ln cap="sq">
              <a:noFill/>
              <a:prstDash val="solid"/>
              <a:miter/>
            </a:ln>
          </p:spPr>
        </p:sp>
        <p:sp>
          <p:nvSpPr>
            <p:cNvPr name="TextBox 8" id="8"/>
            <p:cNvSpPr txBox="true"/>
            <p:nvPr/>
          </p:nvSpPr>
          <p:spPr>
            <a:xfrm>
              <a:off x="0" y="-38100"/>
              <a:ext cx="965200" cy="165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990600" y="1485900"/>
            <a:ext cx="7620000" cy="281940"/>
          </a:xfrm>
          <a:prstGeom prst="rect">
            <a:avLst/>
          </a:prstGeom>
        </p:spPr>
        <p:txBody>
          <a:bodyPr anchor="t" rtlCol="false" tIns="0" lIns="0" bIns="0" rIns="0">
            <a:spAutoFit/>
          </a:bodyPr>
          <a:lstStyle/>
          <a:p>
            <a:pPr algn="l">
              <a:lnSpc>
                <a:spcPts val="2310"/>
              </a:lnSpc>
            </a:pPr>
            <a:r>
              <a:rPr lang="en-US" sz="1650" spc="198" b="true">
                <a:solidFill>
                  <a:srgbClr val="55D6BE"/>
                </a:solidFill>
                <a:latin typeface="Noto Sans Bold"/>
                <a:ea typeface="Noto Sans Bold"/>
                <a:cs typeface="Noto Sans Bold"/>
                <a:sym typeface="Noto Sans Bold"/>
              </a:rPr>
              <a:t>ĐỒ ÁN TỐT NGHIỆP  •  2026</a:t>
            </a:r>
          </a:p>
        </p:txBody>
      </p:sp>
      <p:sp>
        <p:nvSpPr>
          <p:cNvPr name="TextBox 10" id="10"/>
          <p:cNvSpPr txBox="true"/>
          <p:nvPr/>
        </p:nvSpPr>
        <p:spPr>
          <a:xfrm rot="0">
            <a:off x="990600" y="2362200"/>
            <a:ext cx="9525000" cy="2169795"/>
          </a:xfrm>
          <a:prstGeom prst="rect">
            <a:avLst/>
          </a:prstGeom>
        </p:spPr>
        <p:txBody>
          <a:bodyPr anchor="t" rtlCol="false" tIns="0" lIns="0" bIns="0" rIns="0">
            <a:spAutoFit/>
          </a:bodyPr>
          <a:lstStyle/>
          <a:p>
            <a:pPr algn="l">
              <a:lnSpc>
                <a:spcPts val="5670"/>
              </a:lnSpc>
            </a:pPr>
            <a:r>
              <a:rPr lang="en-US" sz="5400" b="true">
                <a:solidFill>
                  <a:srgbClr val="FFFFFF"/>
                </a:solidFill>
                <a:latin typeface="Be Vietnam Ultra-Bold"/>
                <a:ea typeface="Be Vietnam Ultra-Bold"/>
                <a:cs typeface="Be Vietnam Ultra-Bold"/>
                <a:sym typeface="Be Vietnam Ultra-Bold"/>
              </a:rPr>
              <a:t>HỆ THỐNG</a:t>
            </a:r>
          </a:p>
          <a:p>
            <a:pPr algn="l">
              <a:lnSpc>
                <a:spcPts val="5670"/>
              </a:lnSpc>
            </a:pPr>
            <a:r>
              <a:rPr lang="en-US" sz="5400" b="true">
                <a:solidFill>
                  <a:srgbClr val="FFFFFF"/>
                </a:solidFill>
                <a:latin typeface="Be Vietnam Ultra-Bold"/>
                <a:ea typeface="Be Vietnam Ultra-Bold"/>
                <a:cs typeface="Be Vietnam Ultra-Bold"/>
                <a:sym typeface="Be Vietnam Ultra-Bold"/>
              </a:rPr>
              <a:t>QUẢN LÝ BÁN SÁCH</a:t>
            </a:r>
          </a:p>
          <a:p>
            <a:pPr algn="l">
              <a:lnSpc>
                <a:spcPts val="5670"/>
              </a:lnSpc>
            </a:pPr>
            <a:r>
              <a:rPr lang="en-US" sz="5400" b="true">
                <a:solidFill>
                  <a:srgbClr val="FFFFFF"/>
                </a:solidFill>
                <a:latin typeface="Be Vietnam Ultra-Bold"/>
                <a:ea typeface="Be Vietnam Ultra-Bold"/>
                <a:cs typeface="Be Vietnam Ultra-Bold"/>
                <a:sym typeface="Be Vietnam Ultra-Bold"/>
              </a:rPr>
              <a:t>TRÊN THIẾT BỊ DI ĐỘNG</a:t>
            </a:r>
          </a:p>
        </p:txBody>
      </p:sp>
      <p:sp>
        <p:nvSpPr>
          <p:cNvPr name="TextBox 11" id="11"/>
          <p:cNvSpPr txBox="true"/>
          <p:nvPr/>
        </p:nvSpPr>
        <p:spPr>
          <a:xfrm rot="0">
            <a:off x="990600" y="5257800"/>
            <a:ext cx="7239000" cy="693420"/>
          </a:xfrm>
          <a:prstGeom prst="rect">
            <a:avLst/>
          </a:prstGeom>
        </p:spPr>
        <p:txBody>
          <a:bodyPr anchor="t" rtlCol="false" tIns="0" lIns="0" bIns="0" rIns="0">
            <a:spAutoFit/>
          </a:bodyPr>
          <a:lstStyle/>
          <a:p>
            <a:pPr algn="l">
              <a:lnSpc>
                <a:spcPts val="2835"/>
              </a:lnSpc>
            </a:pPr>
            <a:r>
              <a:rPr lang="en-US" sz="2100">
                <a:solidFill>
                  <a:srgbClr val="FFFFFF"/>
                </a:solidFill>
                <a:latin typeface="Noto Sans"/>
                <a:ea typeface="Noto Sans"/>
                <a:cs typeface="Noto Sans"/>
                <a:sym typeface="Noto Sans"/>
              </a:rPr>
              <a:t>CÔNG NGHỆ THÔNG TIN</a:t>
            </a:r>
          </a:p>
          <a:p>
            <a:pPr algn="l">
              <a:lnSpc>
                <a:spcPts val="2835"/>
              </a:lnSpc>
            </a:pPr>
            <a:r>
              <a:rPr lang="en-US" sz="2100">
                <a:solidFill>
                  <a:srgbClr val="FFFFFF"/>
                </a:solidFill>
                <a:latin typeface="Noto Sans"/>
                <a:ea typeface="Noto Sans"/>
                <a:cs typeface="Noto Sans"/>
                <a:sym typeface="Noto Sans"/>
              </a:rPr>
              <a:t>Phát triển các ứng dụng di động</a:t>
            </a:r>
          </a:p>
        </p:txBody>
      </p:sp>
      <p:sp>
        <p:nvSpPr>
          <p:cNvPr name="TextBox 12" id="12"/>
          <p:cNvSpPr txBox="true"/>
          <p:nvPr/>
        </p:nvSpPr>
        <p:spPr>
          <a:xfrm rot="0">
            <a:off x="990600" y="6553200"/>
            <a:ext cx="7620000" cy="281464"/>
          </a:xfrm>
          <a:prstGeom prst="rect">
            <a:avLst/>
          </a:prstGeom>
        </p:spPr>
        <p:txBody>
          <a:bodyPr anchor="t" rtlCol="false" tIns="0" lIns="0" bIns="0" rIns="0">
            <a:spAutoFit/>
          </a:bodyPr>
          <a:lstStyle/>
          <a:p>
            <a:pPr algn="l">
              <a:lnSpc>
                <a:spcPts val="2328"/>
              </a:lnSpc>
            </a:pPr>
            <a:r>
              <a:rPr lang="en-US" sz="1725">
                <a:solidFill>
                  <a:srgbClr val="55D6BE"/>
                </a:solidFill>
                <a:latin typeface="Noto Sans"/>
                <a:ea typeface="Noto Sans"/>
                <a:cs typeface="Noto Sans"/>
                <a:sym typeface="Noto Sans"/>
              </a:rPr>
              <a:t>GVHD  ThS. Nguyễn Trung Hiếu</a:t>
            </a:r>
          </a:p>
        </p:txBody>
      </p:sp>
      <p:sp>
        <p:nvSpPr>
          <p:cNvPr name="TextBox 13" id="13"/>
          <p:cNvSpPr txBox="true"/>
          <p:nvPr/>
        </p:nvSpPr>
        <p:spPr>
          <a:xfrm rot="0">
            <a:off x="990600" y="7134225"/>
            <a:ext cx="8096250" cy="1065371"/>
          </a:xfrm>
          <a:prstGeom prst="rect">
            <a:avLst/>
          </a:prstGeom>
        </p:spPr>
        <p:txBody>
          <a:bodyPr anchor="t" rtlCol="false" tIns="0" lIns="0" bIns="0" rIns="0">
            <a:spAutoFit/>
          </a:bodyPr>
          <a:lstStyle/>
          <a:p>
            <a:pPr algn="l">
              <a:lnSpc>
                <a:spcPts val="2126"/>
              </a:lnSpc>
            </a:pPr>
            <a:r>
              <a:rPr lang="en-US" sz="1575">
                <a:solidFill>
                  <a:srgbClr val="FFFFFF"/>
                </a:solidFill>
                <a:latin typeface="Noto Sans"/>
                <a:ea typeface="Noto Sans"/>
                <a:cs typeface="Noto Sans"/>
                <a:sym typeface="Noto Sans"/>
              </a:rPr>
              <a:t>K23DTCN187 — Phạm Minh Quân</a:t>
            </a:r>
          </a:p>
          <a:p>
            <a:pPr algn="l">
              <a:lnSpc>
                <a:spcPts val="2126"/>
              </a:lnSpc>
            </a:pPr>
            <a:r>
              <a:rPr lang="en-US" sz="1575">
                <a:solidFill>
                  <a:srgbClr val="FFFFFF"/>
                </a:solidFill>
                <a:latin typeface="Noto Sans"/>
                <a:ea typeface="Noto Sans"/>
                <a:cs typeface="Noto Sans"/>
                <a:sym typeface="Noto Sans"/>
              </a:rPr>
              <a:t>K23DTCN186 — Trần Khánh Quân</a:t>
            </a:r>
          </a:p>
          <a:p>
            <a:pPr algn="l">
              <a:lnSpc>
                <a:spcPts val="2126"/>
              </a:lnSpc>
            </a:pPr>
            <a:r>
              <a:rPr lang="en-US" sz="1575">
                <a:solidFill>
                  <a:srgbClr val="FFFFFF"/>
                </a:solidFill>
                <a:latin typeface="Noto Sans"/>
                <a:ea typeface="Noto Sans"/>
                <a:cs typeface="Noto Sans"/>
                <a:sym typeface="Noto Sans"/>
              </a:rPr>
              <a:t>K23DTCN195 — Phạm Phát Tài</a:t>
            </a:r>
          </a:p>
          <a:p>
            <a:pPr algn="l">
              <a:lnSpc>
                <a:spcPts val="2126"/>
              </a:lnSpc>
            </a:pPr>
            <a:r>
              <a:rPr lang="en-US" sz="1575">
                <a:solidFill>
                  <a:srgbClr val="FFFFFF"/>
                </a:solidFill>
                <a:latin typeface="Noto Sans"/>
                <a:ea typeface="Noto Sans"/>
                <a:cs typeface="Noto Sans"/>
                <a:sym typeface="Noto Sans"/>
              </a:rPr>
              <a:t>K23DTCN106 — Ngô Trùng Dương</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01 — ĐẶT VẤN ĐỀ &amp; MỤC TIÊU</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102B3F"/>
                  </a:solidFill>
                  <a:latin typeface="Be Vietnam Ultra-Bold"/>
                  <a:ea typeface="Be Vietnam Ultra-Bold"/>
                  <a:cs typeface="Be Vietnam Ultra-Bold"/>
                  <a:sym typeface="Be Vietnam Ultra-Bold"/>
                </a:rPr>
                <a:t>Từ điểm nghẽn đến một hệ thống tập trung</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grpSp>
        <p:nvGrpSpPr>
          <p:cNvPr name="Group 6" id="6"/>
          <p:cNvGrpSpPr/>
          <p:nvPr/>
        </p:nvGrpSpPr>
        <p:grpSpPr>
          <a:xfrm rot="0">
            <a:off x="990600" y="2333625"/>
            <a:ext cx="7524750" cy="6048375"/>
            <a:chOff x="0" y="0"/>
            <a:chExt cx="10033000" cy="8064500"/>
          </a:xfrm>
        </p:grpSpPr>
        <p:grpSp>
          <p:nvGrpSpPr>
            <p:cNvPr name="Group 7" id="7"/>
            <p:cNvGrpSpPr/>
            <p:nvPr/>
          </p:nvGrpSpPr>
          <p:grpSpPr>
            <a:xfrm rot="0">
              <a:off x="0" y="0"/>
              <a:ext cx="10033000" cy="8064500"/>
              <a:chOff x="0" y="0"/>
              <a:chExt cx="10033000" cy="8064500"/>
            </a:xfrm>
          </p:grpSpPr>
          <p:sp>
            <p:nvSpPr>
              <p:cNvPr name="Freeform 8" id="8"/>
              <p:cNvSpPr/>
              <p:nvPr/>
            </p:nvSpPr>
            <p:spPr>
              <a:xfrm flipH="false" flipV="false" rot="0">
                <a:off x="0" y="0"/>
                <a:ext cx="10033000" cy="8064500"/>
              </a:xfrm>
              <a:custGeom>
                <a:avLst/>
                <a:gdLst/>
                <a:ahLst/>
                <a:cxnLst/>
                <a:rect r="r" b="b" t="t" l="l"/>
                <a:pathLst>
                  <a:path h="8064500" w="10033000">
                    <a:moveTo>
                      <a:pt x="0" y="0"/>
                    </a:moveTo>
                    <a:lnTo>
                      <a:pt x="10033000" y="0"/>
                    </a:lnTo>
                    <a:lnTo>
                      <a:pt x="10033000" y="8064500"/>
                    </a:lnTo>
                    <a:lnTo>
                      <a:pt x="0" y="8064500"/>
                    </a:lnTo>
                    <a:close/>
                  </a:path>
                </a:pathLst>
              </a:custGeom>
              <a:solidFill>
                <a:srgbClr val="FFFFFF"/>
              </a:solidFill>
              <a:ln cap="sq">
                <a:noFill/>
                <a:prstDash val="solid"/>
                <a:miter/>
              </a:ln>
            </p:spPr>
          </p:sp>
          <p:sp>
            <p:nvSpPr>
              <p:cNvPr name="TextBox 9" id="9"/>
              <p:cNvSpPr txBox="true"/>
              <p:nvPr/>
            </p:nvSpPr>
            <p:spPr>
              <a:xfrm>
                <a:off x="0" y="-38100"/>
                <a:ext cx="10033000" cy="81026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584200" y="479425"/>
              <a:ext cx="7874000" cy="386715"/>
            </a:xfrm>
            <a:prstGeom prst="rect">
              <a:avLst/>
            </a:prstGeom>
          </p:spPr>
          <p:txBody>
            <a:bodyPr anchor="t" rtlCol="false" tIns="0" lIns="0" bIns="0" rIns="0">
              <a:spAutoFit/>
            </a:bodyPr>
            <a:lstStyle/>
            <a:p>
              <a:pPr algn="l">
                <a:lnSpc>
                  <a:spcPts val="2520"/>
                </a:lnSpc>
              </a:pPr>
              <a:r>
                <a:rPr lang="en-US" sz="1800" spc="215" b="true">
                  <a:solidFill>
                    <a:srgbClr val="FF6B5B"/>
                  </a:solidFill>
                  <a:latin typeface="Noto Sans Bold"/>
                  <a:ea typeface="Noto Sans Bold"/>
                  <a:cs typeface="Noto Sans Bold"/>
                  <a:sym typeface="Noto Sans Bold"/>
                </a:rPr>
                <a:t>THỰC TRẠNG</a:t>
              </a:r>
            </a:p>
          </p:txBody>
        </p:sp>
        <p:sp>
          <p:nvSpPr>
            <p:cNvPr name="TextBox 11" id="11"/>
            <p:cNvSpPr txBox="true"/>
            <p:nvPr/>
          </p:nvSpPr>
          <p:spPr>
            <a:xfrm rot="0">
              <a:off x="584200" y="1317625"/>
              <a:ext cx="8763000" cy="1908810"/>
            </a:xfrm>
            <a:prstGeom prst="rect">
              <a:avLst/>
            </a:prstGeom>
          </p:spPr>
          <p:txBody>
            <a:bodyPr anchor="t" rtlCol="false" tIns="0" lIns="0" bIns="0" rIns="0">
              <a:spAutoFit/>
            </a:bodyPr>
            <a:lstStyle/>
            <a:p>
              <a:pPr algn="l">
                <a:lnSpc>
                  <a:spcPts val="3701"/>
                </a:lnSpc>
              </a:pPr>
              <a:r>
                <a:rPr lang="en-US" sz="3525" b="true">
                  <a:solidFill>
                    <a:srgbClr val="102B3F"/>
                  </a:solidFill>
                  <a:latin typeface="Be Vietnam Ultra-Bold"/>
                  <a:ea typeface="Be Vietnam Ultra-Bold"/>
                  <a:cs typeface="Be Vietnam Ultra-Bold"/>
                  <a:sym typeface="Be Vietnam Ultra-Bold"/>
                </a:rPr>
                <a:t>Tồn kho phân tán</a:t>
              </a:r>
            </a:p>
            <a:p>
              <a:pPr algn="l">
                <a:lnSpc>
                  <a:spcPts val="3701"/>
                </a:lnSpc>
              </a:pPr>
              <a:r>
                <a:rPr lang="en-US" sz="3525" b="true">
                  <a:solidFill>
                    <a:srgbClr val="102B3F"/>
                  </a:solidFill>
                  <a:latin typeface="Be Vietnam Ultra-Bold"/>
                  <a:ea typeface="Be Vietnam Ultra-Bold"/>
                  <a:cs typeface="Be Vietnam Ultra-Bold"/>
                  <a:sym typeface="Be Vietnam Ultra-Bold"/>
                </a:rPr>
                <a:t>Công nợ thủ công</a:t>
              </a:r>
            </a:p>
            <a:p>
              <a:pPr algn="l">
                <a:lnSpc>
                  <a:spcPts val="3701"/>
                </a:lnSpc>
              </a:pPr>
              <a:r>
                <a:rPr lang="en-US" sz="3525" b="true">
                  <a:solidFill>
                    <a:srgbClr val="102B3F"/>
                  </a:solidFill>
                  <a:latin typeface="Be Vietnam Ultra-Bold"/>
                  <a:ea typeface="Be Vietnam Ultra-Bold"/>
                  <a:cs typeface="Be Vietnam Ultra-Bold"/>
                  <a:sym typeface="Be Vietnam Ultra-Bold"/>
                </a:rPr>
                <a:t>Đơn hàng xử lý chậm</a:t>
              </a:r>
            </a:p>
          </p:txBody>
        </p:sp>
      </p:grpSp>
      <p:sp>
        <p:nvSpPr>
          <p:cNvPr name="AutoShape 12" id="12"/>
          <p:cNvSpPr/>
          <p:nvPr/>
        </p:nvSpPr>
        <p:spPr>
          <a:xfrm>
            <a:off x="8620125" y="5143500"/>
            <a:ext cx="1381125" cy="0"/>
          </a:xfrm>
          <a:prstGeom prst="line">
            <a:avLst/>
          </a:prstGeom>
          <a:ln cap="rnd" w="76200">
            <a:solidFill>
              <a:srgbClr val="55D6BE"/>
            </a:solidFill>
            <a:prstDash val="solid"/>
            <a:headEnd type="none" len="sm" w="sm"/>
            <a:tailEnd type="none" len="sm" w="sm"/>
          </a:ln>
        </p:spPr>
      </p:sp>
      <p:grpSp>
        <p:nvGrpSpPr>
          <p:cNvPr name="Group 13" id="13"/>
          <p:cNvGrpSpPr/>
          <p:nvPr/>
        </p:nvGrpSpPr>
        <p:grpSpPr>
          <a:xfrm rot="0">
            <a:off x="10096500" y="2333625"/>
            <a:ext cx="7200900" cy="6048375"/>
            <a:chOff x="0" y="0"/>
            <a:chExt cx="9601200" cy="8064500"/>
          </a:xfrm>
        </p:grpSpPr>
        <p:grpSp>
          <p:nvGrpSpPr>
            <p:cNvPr name="Group 14" id="14"/>
            <p:cNvGrpSpPr/>
            <p:nvPr/>
          </p:nvGrpSpPr>
          <p:grpSpPr>
            <a:xfrm rot="0">
              <a:off x="0" y="0"/>
              <a:ext cx="9601200" cy="8064500"/>
              <a:chOff x="0" y="0"/>
              <a:chExt cx="9601200" cy="8064500"/>
            </a:xfrm>
          </p:grpSpPr>
          <p:sp>
            <p:nvSpPr>
              <p:cNvPr name="Freeform 15" id="15"/>
              <p:cNvSpPr/>
              <p:nvPr/>
            </p:nvSpPr>
            <p:spPr>
              <a:xfrm flipH="false" flipV="false" rot="0">
                <a:off x="0" y="0"/>
                <a:ext cx="9601200" cy="8064500"/>
              </a:xfrm>
              <a:custGeom>
                <a:avLst/>
                <a:gdLst/>
                <a:ahLst/>
                <a:cxnLst/>
                <a:rect r="r" b="b" t="t" l="l"/>
                <a:pathLst>
                  <a:path h="8064500" w="9601200">
                    <a:moveTo>
                      <a:pt x="0" y="0"/>
                    </a:moveTo>
                    <a:lnTo>
                      <a:pt x="9601200" y="0"/>
                    </a:lnTo>
                    <a:lnTo>
                      <a:pt x="9601200" y="8064500"/>
                    </a:lnTo>
                    <a:lnTo>
                      <a:pt x="0" y="8064500"/>
                    </a:lnTo>
                    <a:close/>
                  </a:path>
                </a:pathLst>
              </a:custGeom>
              <a:solidFill>
                <a:srgbClr val="DFF4EE"/>
              </a:solidFill>
              <a:ln cap="sq">
                <a:noFill/>
                <a:prstDash val="solid"/>
                <a:miter/>
              </a:ln>
            </p:spPr>
          </p:sp>
          <p:sp>
            <p:nvSpPr>
              <p:cNvPr name="TextBox 16" id="16"/>
              <p:cNvSpPr txBox="true"/>
              <p:nvPr/>
            </p:nvSpPr>
            <p:spPr>
              <a:xfrm>
                <a:off x="0" y="-38100"/>
                <a:ext cx="9601200" cy="81026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635000" y="479425"/>
              <a:ext cx="7620000" cy="386715"/>
            </a:xfrm>
            <a:prstGeom prst="rect">
              <a:avLst/>
            </a:prstGeom>
          </p:spPr>
          <p:txBody>
            <a:bodyPr anchor="t" rtlCol="false" tIns="0" lIns="0" bIns="0" rIns="0">
              <a:spAutoFit/>
            </a:bodyPr>
            <a:lstStyle/>
            <a:p>
              <a:pPr algn="l">
                <a:lnSpc>
                  <a:spcPts val="2520"/>
                </a:lnSpc>
              </a:pPr>
              <a:r>
                <a:rPr lang="en-US" sz="1800" spc="215" b="true">
                  <a:solidFill>
                    <a:srgbClr val="168AAD"/>
                  </a:solidFill>
                  <a:latin typeface="Noto Sans Bold"/>
                  <a:ea typeface="Noto Sans Bold"/>
                  <a:cs typeface="Noto Sans Bold"/>
                  <a:sym typeface="Noto Sans Bold"/>
                </a:rPr>
                <a:t>MỤC TIÊU</a:t>
              </a:r>
            </a:p>
          </p:txBody>
        </p:sp>
        <p:sp>
          <p:nvSpPr>
            <p:cNvPr name="TextBox 18" id="18"/>
            <p:cNvSpPr txBox="true"/>
            <p:nvPr/>
          </p:nvSpPr>
          <p:spPr>
            <a:xfrm rot="0">
              <a:off x="635000" y="1222375"/>
              <a:ext cx="8255000" cy="1807845"/>
            </a:xfrm>
            <a:prstGeom prst="rect">
              <a:avLst/>
            </a:prstGeom>
          </p:spPr>
          <p:txBody>
            <a:bodyPr anchor="t" rtlCol="false" tIns="0" lIns="0" bIns="0" rIns="0">
              <a:spAutoFit/>
            </a:bodyPr>
            <a:lstStyle/>
            <a:p>
              <a:pPr algn="l">
                <a:lnSpc>
                  <a:spcPts val="3645"/>
                </a:lnSpc>
              </a:pPr>
              <a:r>
                <a:rPr lang="en-US" sz="2700">
                  <a:solidFill>
                    <a:srgbClr val="102B3F"/>
                  </a:solidFill>
                  <a:latin typeface="Noto Sans"/>
                  <a:ea typeface="Noto Sans"/>
                  <a:cs typeface="Noto Sans"/>
                  <a:sym typeface="Noto Sans"/>
                </a:rPr>
                <a:t>Một ứng dụng Android trực quan cho khách hàng, đại lý và nhân viên — truy cập mọi lúc, mọi nơi.</a:t>
              </a:r>
            </a:p>
          </p:txBody>
        </p:sp>
        <p:sp>
          <p:nvSpPr>
            <p:cNvPr name="TextBox 19" id="19"/>
            <p:cNvSpPr txBox="true"/>
            <p:nvPr/>
          </p:nvSpPr>
          <p:spPr>
            <a:xfrm rot="0">
              <a:off x="635000" y="5114925"/>
              <a:ext cx="8255000" cy="915035"/>
            </a:xfrm>
            <a:prstGeom prst="rect">
              <a:avLst/>
            </a:prstGeom>
          </p:spPr>
          <p:txBody>
            <a:bodyPr anchor="t" rtlCol="false" tIns="0" lIns="0" bIns="0" rIns="0">
              <a:spAutoFit/>
            </a:bodyPr>
            <a:lstStyle/>
            <a:p>
              <a:pPr algn="l">
                <a:lnSpc>
                  <a:spcPts val="2835"/>
                </a:lnSpc>
              </a:pPr>
              <a:r>
                <a:rPr lang="en-US" sz="2100">
                  <a:solidFill>
                    <a:srgbClr val="6D7B82"/>
                  </a:solidFill>
                  <a:latin typeface="Noto Sans"/>
                  <a:ea typeface="Noto Sans"/>
                  <a:cs typeface="Noto Sans"/>
                  <a:sym typeface="Noto Sans"/>
                </a:rPr>
                <a:t>RESTful API tập trung dữ liệu bán hàng, kho bãi và tài chính minh bạch.</a:t>
              </a:r>
            </a:p>
          </p:txBody>
        </p:sp>
      </p:grpSp>
      <p:grpSp>
        <p:nvGrpSpPr>
          <p:cNvPr name="Group 20" id="20"/>
          <p:cNvGrpSpPr/>
          <p:nvPr/>
        </p:nvGrpSpPr>
        <p:grpSpPr>
          <a:xfrm rot="0">
            <a:off x="990600" y="9696450"/>
            <a:ext cx="16249650" cy="228600"/>
            <a:chOff x="0" y="0"/>
            <a:chExt cx="21666200" cy="304800"/>
          </a:xfrm>
        </p:grpSpPr>
        <p:sp>
          <p:nvSpPr>
            <p:cNvPr name="TextBox 21" id="21"/>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22" id="22"/>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02</a:t>
              </a: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02 — ĐỐI TƯỢNG &amp; PHÂN QUYỀN</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102B3F"/>
                  </a:solidFill>
                  <a:latin typeface="Be Vietnam Ultra-Bold"/>
                  <a:ea typeface="Be Vietnam Ultra-Bold"/>
                  <a:cs typeface="Be Vietnam Ultra-Bold"/>
                  <a:sym typeface="Be Vietnam Ultra-Bold"/>
                </a:rPr>
                <a:t>Đúng người — đúng quyền — đúng tác vụ</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grpSp>
        <p:nvGrpSpPr>
          <p:cNvPr name="Group 6" id="6"/>
          <p:cNvGrpSpPr/>
          <p:nvPr/>
        </p:nvGrpSpPr>
        <p:grpSpPr>
          <a:xfrm rot="0">
            <a:off x="7239000" y="4095750"/>
            <a:ext cx="3810000" cy="1619250"/>
            <a:chOff x="0" y="0"/>
            <a:chExt cx="5080000" cy="2159000"/>
          </a:xfrm>
        </p:grpSpPr>
        <p:sp>
          <p:nvSpPr>
            <p:cNvPr name="Freeform 7" id="7"/>
            <p:cNvSpPr/>
            <p:nvPr/>
          </p:nvSpPr>
          <p:spPr>
            <a:xfrm flipH="false" flipV="false" rot="0">
              <a:off x="0" y="0"/>
              <a:ext cx="5080000" cy="2159000"/>
            </a:xfrm>
            <a:custGeom>
              <a:avLst/>
              <a:gdLst/>
              <a:ahLst/>
              <a:cxnLst/>
              <a:rect r="r" b="b" t="t" l="l"/>
              <a:pathLst>
                <a:path h="2159000" w="5080000">
                  <a:moveTo>
                    <a:pt x="57150" y="0"/>
                  </a:moveTo>
                  <a:lnTo>
                    <a:pt x="5022850" y="0"/>
                  </a:lnTo>
                  <a:cubicBezTo>
                    <a:pt x="5054413" y="0"/>
                    <a:pt x="5080000" y="25587"/>
                    <a:pt x="5080000" y="57150"/>
                  </a:cubicBezTo>
                  <a:lnTo>
                    <a:pt x="5080000" y="2101850"/>
                  </a:lnTo>
                  <a:cubicBezTo>
                    <a:pt x="5080000" y="2133413"/>
                    <a:pt x="5054413" y="2159000"/>
                    <a:pt x="5022850" y="2159000"/>
                  </a:cubicBezTo>
                  <a:lnTo>
                    <a:pt x="57150" y="2159000"/>
                  </a:lnTo>
                  <a:cubicBezTo>
                    <a:pt x="25587" y="2159000"/>
                    <a:pt x="0" y="2133413"/>
                    <a:pt x="0" y="2101850"/>
                  </a:cubicBezTo>
                  <a:lnTo>
                    <a:pt x="0" y="57150"/>
                  </a:lnTo>
                  <a:cubicBezTo>
                    <a:pt x="0" y="25587"/>
                    <a:pt x="25587" y="0"/>
                    <a:pt x="57150" y="0"/>
                  </a:cubicBezTo>
                  <a:close/>
                </a:path>
              </a:pathLst>
            </a:custGeom>
            <a:solidFill>
              <a:srgbClr val="071A2B"/>
            </a:solidFill>
            <a:ln cap="sq">
              <a:noFill/>
              <a:prstDash val="solid"/>
              <a:miter/>
            </a:ln>
          </p:spPr>
        </p:sp>
        <p:sp>
          <p:nvSpPr>
            <p:cNvPr name="TextBox 8" id="8"/>
            <p:cNvSpPr txBox="true"/>
            <p:nvPr/>
          </p:nvSpPr>
          <p:spPr>
            <a:xfrm>
              <a:off x="0" y="9525"/>
              <a:ext cx="5080000" cy="2149475"/>
            </a:xfrm>
            <a:prstGeom prst="rect">
              <a:avLst/>
            </a:prstGeom>
          </p:spPr>
          <p:txBody>
            <a:bodyPr anchor="ctr" rtlCol="false" tIns="50800" lIns="50800" bIns="50800" rIns="50800"/>
            <a:lstStyle/>
            <a:p>
              <a:pPr algn="ctr">
                <a:lnSpc>
                  <a:spcPts val="1897"/>
                </a:lnSpc>
              </a:pPr>
              <a:r>
                <a:rPr lang="en-US" sz="1650" b="true">
                  <a:solidFill>
                    <a:srgbClr val="FFFFFF"/>
                  </a:solidFill>
                  <a:latin typeface="Noto Sans Bold"/>
                  <a:ea typeface="Noto Sans Bold"/>
                  <a:cs typeface="Noto Sans Bold"/>
                  <a:sym typeface="Noto Sans Bold"/>
                </a:rPr>
                <a:t>BOOKFLOW</a:t>
              </a:r>
            </a:p>
            <a:p>
              <a:pPr algn="ctr">
                <a:lnSpc>
                  <a:spcPts val="1897"/>
                </a:lnSpc>
              </a:pPr>
              <a:r>
                <a:rPr lang="en-US" sz="1650" b="true">
                  <a:solidFill>
                    <a:srgbClr val="FFFFFF"/>
                  </a:solidFill>
                  <a:latin typeface="Noto Sans Bold"/>
                  <a:ea typeface="Noto Sans Bold"/>
                  <a:cs typeface="Noto Sans Bold"/>
                  <a:sym typeface="Noto Sans Bold"/>
                </a:rPr>
                <a:t>RBAC</a:t>
              </a:r>
            </a:p>
          </p:txBody>
        </p:sp>
      </p:grpSp>
      <p:sp>
        <p:nvSpPr>
          <p:cNvPr name="AutoShape 9" id="9"/>
          <p:cNvSpPr/>
          <p:nvPr/>
        </p:nvSpPr>
        <p:spPr>
          <a:xfrm flipH="true" flipV="true">
            <a:off x="3571875" y="3333750"/>
            <a:ext cx="5572125" cy="1571625"/>
          </a:xfrm>
          <a:prstGeom prst="line">
            <a:avLst/>
          </a:prstGeom>
          <a:ln cap="flat" w="28575">
            <a:solidFill>
              <a:srgbClr val="168AAD"/>
            </a:solidFill>
            <a:prstDash val="sysDash"/>
            <a:headEnd type="none" len="sm" w="sm"/>
            <a:tailEnd type="none" len="sm" w="sm"/>
          </a:ln>
        </p:spPr>
      </p:sp>
      <p:grpSp>
        <p:nvGrpSpPr>
          <p:cNvPr name="Group 10" id="10"/>
          <p:cNvGrpSpPr/>
          <p:nvPr/>
        </p:nvGrpSpPr>
        <p:grpSpPr>
          <a:xfrm rot="0">
            <a:off x="1143000" y="2667000"/>
            <a:ext cx="4857750" cy="1238250"/>
            <a:chOff x="0" y="0"/>
            <a:chExt cx="6477000" cy="1651000"/>
          </a:xfrm>
        </p:grpSpPr>
        <p:sp>
          <p:nvSpPr>
            <p:cNvPr name="Freeform 11" id="11"/>
            <p:cNvSpPr/>
            <p:nvPr/>
          </p:nvSpPr>
          <p:spPr>
            <a:xfrm flipH="false" flipV="false" rot="0">
              <a:off x="0" y="0"/>
              <a:ext cx="6477000" cy="1651000"/>
            </a:xfrm>
            <a:custGeom>
              <a:avLst/>
              <a:gdLst/>
              <a:ahLst/>
              <a:cxnLst/>
              <a:rect r="r" b="b" t="t" l="l"/>
              <a:pathLst>
                <a:path h="1651000" w="6477000">
                  <a:moveTo>
                    <a:pt x="44824" y="0"/>
                  </a:moveTo>
                  <a:lnTo>
                    <a:pt x="6432176" y="0"/>
                  </a:lnTo>
                  <a:cubicBezTo>
                    <a:pt x="6444064" y="0"/>
                    <a:pt x="6455465" y="4722"/>
                    <a:pt x="6463871" y="13129"/>
                  </a:cubicBezTo>
                  <a:cubicBezTo>
                    <a:pt x="6472277" y="21535"/>
                    <a:pt x="6477000" y="32936"/>
                    <a:pt x="6477000" y="44824"/>
                  </a:cubicBezTo>
                  <a:lnTo>
                    <a:pt x="6477000" y="1606176"/>
                  </a:lnTo>
                  <a:cubicBezTo>
                    <a:pt x="6477000" y="1618064"/>
                    <a:pt x="6472277" y="1629465"/>
                    <a:pt x="6463871" y="1637872"/>
                  </a:cubicBezTo>
                  <a:cubicBezTo>
                    <a:pt x="6455465" y="1646278"/>
                    <a:pt x="6444064" y="1651000"/>
                    <a:pt x="6432176" y="1651000"/>
                  </a:cubicBezTo>
                  <a:lnTo>
                    <a:pt x="44824" y="1651000"/>
                  </a:lnTo>
                  <a:cubicBezTo>
                    <a:pt x="32936" y="1651000"/>
                    <a:pt x="21535" y="1646278"/>
                    <a:pt x="13129" y="1637872"/>
                  </a:cubicBezTo>
                  <a:cubicBezTo>
                    <a:pt x="4722" y="1629465"/>
                    <a:pt x="0" y="1618064"/>
                    <a:pt x="0" y="1606176"/>
                  </a:cubicBezTo>
                  <a:lnTo>
                    <a:pt x="0" y="44824"/>
                  </a:lnTo>
                  <a:cubicBezTo>
                    <a:pt x="0" y="32936"/>
                    <a:pt x="4722" y="21535"/>
                    <a:pt x="13129" y="13129"/>
                  </a:cubicBezTo>
                  <a:cubicBezTo>
                    <a:pt x="21535" y="4722"/>
                    <a:pt x="32936" y="0"/>
                    <a:pt x="44824" y="0"/>
                  </a:cubicBezTo>
                  <a:close/>
                </a:path>
              </a:pathLst>
            </a:custGeom>
            <a:solidFill>
              <a:srgbClr val="DFF4EE"/>
            </a:solidFill>
            <a:ln cap="sq">
              <a:noFill/>
              <a:prstDash val="solid"/>
              <a:miter/>
            </a:ln>
          </p:spPr>
        </p:sp>
        <p:sp>
          <p:nvSpPr>
            <p:cNvPr name="TextBox 12" id="12"/>
            <p:cNvSpPr txBox="true"/>
            <p:nvPr/>
          </p:nvSpPr>
          <p:spPr>
            <a:xfrm>
              <a:off x="0" y="9525"/>
              <a:ext cx="6477000" cy="16414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KHÁCH HÀNG / ĐẠI LÝ</a:t>
              </a:r>
            </a:p>
            <a:p>
              <a:pPr algn="ctr">
                <a:lnSpc>
                  <a:spcPts val="1897"/>
                </a:lnSpc>
              </a:pPr>
              <a:r>
                <a:rPr lang="en-US" sz="1650" b="true">
                  <a:solidFill>
                    <a:srgbClr val="102B3F"/>
                  </a:solidFill>
                  <a:latin typeface="Noto Sans Bold"/>
                  <a:ea typeface="Noto Sans Bold"/>
                  <a:cs typeface="Noto Sans Bold"/>
                  <a:sym typeface="Noto Sans Bold"/>
                </a:rPr>
                <a:t>Tra cứu • Đặt hàng • Công nợ</a:t>
              </a:r>
            </a:p>
          </p:txBody>
        </p:sp>
      </p:grpSp>
      <p:sp>
        <p:nvSpPr>
          <p:cNvPr name="AutoShape 13" id="13"/>
          <p:cNvSpPr/>
          <p:nvPr/>
        </p:nvSpPr>
        <p:spPr>
          <a:xfrm flipV="true">
            <a:off x="9144000" y="3333750"/>
            <a:ext cx="5429250" cy="1571625"/>
          </a:xfrm>
          <a:prstGeom prst="line">
            <a:avLst/>
          </a:prstGeom>
          <a:ln cap="flat" w="28575">
            <a:solidFill>
              <a:srgbClr val="168AAD"/>
            </a:solidFill>
            <a:prstDash val="sysDash"/>
            <a:headEnd type="none" len="sm" w="sm"/>
            <a:tailEnd type="none" len="sm" w="sm"/>
          </a:ln>
        </p:spPr>
      </p:sp>
      <p:grpSp>
        <p:nvGrpSpPr>
          <p:cNvPr name="Group 14" id="14"/>
          <p:cNvGrpSpPr/>
          <p:nvPr/>
        </p:nvGrpSpPr>
        <p:grpSpPr>
          <a:xfrm rot="0">
            <a:off x="12001500" y="2667000"/>
            <a:ext cx="5143500" cy="1238250"/>
            <a:chOff x="0" y="0"/>
            <a:chExt cx="6858000" cy="1651000"/>
          </a:xfrm>
        </p:grpSpPr>
        <p:sp>
          <p:nvSpPr>
            <p:cNvPr name="Freeform 15" id="15"/>
            <p:cNvSpPr/>
            <p:nvPr/>
          </p:nvSpPr>
          <p:spPr>
            <a:xfrm flipH="false" flipV="false" rot="0">
              <a:off x="0" y="0"/>
              <a:ext cx="6858000" cy="1651000"/>
            </a:xfrm>
            <a:custGeom>
              <a:avLst/>
              <a:gdLst/>
              <a:ahLst/>
              <a:cxnLst/>
              <a:rect r="r" b="b" t="t" l="l"/>
              <a:pathLst>
                <a:path h="1651000" w="6858000">
                  <a:moveTo>
                    <a:pt x="42333" y="0"/>
                  </a:moveTo>
                  <a:lnTo>
                    <a:pt x="6815667" y="0"/>
                  </a:lnTo>
                  <a:cubicBezTo>
                    <a:pt x="6826894" y="0"/>
                    <a:pt x="6837662" y="4460"/>
                    <a:pt x="6845601" y="12399"/>
                  </a:cubicBezTo>
                  <a:cubicBezTo>
                    <a:pt x="6853540" y="20338"/>
                    <a:pt x="6858000" y="31106"/>
                    <a:pt x="6858000" y="42333"/>
                  </a:cubicBezTo>
                  <a:lnTo>
                    <a:pt x="6858000" y="1608667"/>
                  </a:lnTo>
                  <a:cubicBezTo>
                    <a:pt x="6858000" y="1619894"/>
                    <a:pt x="6853540" y="1630662"/>
                    <a:pt x="6845601" y="1638601"/>
                  </a:cubicBezTo>
                  <a:cubicBezTo>
                    <a:pt x="6837662" y="1646540"/>
                    <a:pt x="6826894" y="1651000"/>
                    <a:pt x="6815667" y="1651000"/>
                  </a:cubicBezTo>
                  <a:lnTo>
                    <a:pt x="42333" y="1651000"/>
                  </a:lnTo>
                  <a:cubicBezTo>
                    <a:pt x="31106" y="1651000"/>
                    <a:pt x="20338" y="1646540"/>
                    <a:pt x="12399" y="1638601"/>
                  </a:cubicBezTo>
                  <a:cubicBezTo>
                    <a:pt x="4460" y="1630662"/>
                    <a:pt x="0" y="1619894"/>
                    <a:pt x="0" y="1608667"/>
                  </a:cubicBezTo>
                  <a:lnTo>
                    <a:pt x="0" y="42333"/>
                  </a:lnTo>
                  <a:cubicBezTo>
                    <a:pt x="0" y="31106"/>
                    <a:pt x="4460" y="20338"/>
                    <a:pt x="12399" y="12399"/>
                  </a:cubicBezTo>
                  <a:cubicBezTo>
                    <a:pt x="20338" y="4460"/>
                    <a:pt x="31106" y="0"/>
                    <a:pt x="42333" y="0"/>
                  </a:cubicBezTo>
                  <a:close/>
                </a:path>
              </a:pathLst>
            </a:custGeom>
            <a:solidFill>
              <a:srgbClr val="FFE7DF"/>
            </a:solidFill>
            <a:ln cap="sq">
              <a:noFill/>
              <a:prstDash val="solid"/>
              <a:miter/>
            </a:ln>
          </p:spPr>
        </p:sp>
        <p:sp>
          <p:nvSpPr>
            <p:cNvPr name="TextBox 16" id="16"/>
            <p:cNvSpPr txBox="true"/>
            <p:nvPr/>
          </p:nvSpPr>
          <p:spPr>
            <a:xfrm>
              <a:off x="0" y="9525"/>
              <a:ext cx="6858000" cy="16414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ADMIN &amp; KINH DOANH</a:t>
              </a:r>
            </a:p>
            <a:p>
              <a:pPr algn="ctr">
                <a:lnSpc>
                  <a:spcPts val="1897"/>
                </a:lnSpc>
              </a:pPr>
              <a:r>
                <a:rPr lang="en-US" sz="1650" b="true">
                  <a:solidFill>
                    <a:srgbClr val="102B3F"/>
                  </a:solidFill>
                  <a:latin typeface="Noto Sans Bold"/>
                  <a:ea typeface="Noto Sans Bold"/>
                  <a:cs typeface="Noto Sans Bold"/>
                  <a:sym typeface="Noto Sans Bold"/>
                </a:rPr>
                <a:t>Sách • Đơn • Đại lý • Doanh thu</a:t>
              </a:r>
            </a:p>
          </p:txBody>
        </p:sp>
      </p:grpSp>
      <p:sp>
        <p:nvSpPr>
          <p:cNvPr name="AutoShape 17" id="17"/>
          <p:cNvSpPr/>
          <p:nvPr/>
        </p:nvSpPr>
        <p:spPr>
          <a:xfrm flipH="true">
            <a:off x="3476625" y="4905375"/>
            <a:ext cx="5667375" cy="2524125"/>
          </a:xfrm>
          <a:prstGeom prst="line">
            <a:avLst/>
          </a:prstGeom>
          <a:ln cap="flat" w="28575">
            <a:solidFill>
              <a:srgbClr val="168AAD"/>
            </a:solidFill>
            <a:prstDash val="sysDash"/>
            <a:headEnd type="none" len="sm" w="sm"/>
            <a:tailEnd type="none" len="sm" w="sm"/>
          </a:ln>
        </p:spPr>
      </p:sp>
      <p:grpSp>
        <p:nvGrpSpPr>
          <p:cNvPr name="Group 18" id="18"/>
          <p:cNvGrpSpPr/>
          <p:nvPr/>
        </p:nvGrpSpPr>
        <p:grpSpPr>
          <a:xfrm rot="0">
            <a:off x="1333500" y="6762750"/>
            <a:ext cx="4286250" cy="1238250"/>
            <a:chOff x="0" y="0"/>
            <a:chExt cx="5715000" cy="1651000"/>
          </a:xfrm>
        </p:grpSpPr>
        <p:sp>
          <p:nvSpPr>
            <p:cNvPr name="Freeform 19" id="19"/>
            <p:cNvSpPr/>
            <p:nvPr/>
          </p:nvSpPr>
          <p:spPr>
            <a:xfrm flipH="false" flipV="false" rot="0">
              <a:off x="0" y="0"/>
              <a:ext cx="5715000" cy="1651000"/>
            </a:xfrm>
            <a:custGeom>
              <a:avLst/>
              <a:gdLst/>
              <a:ahLst/>
              <a:cxnLst/>
              <a:rect r="r" b="b" t="t" l="l"/>
              <a:pathLst>
                <a:path h="1651000" w="5715000">
                  <a:moveTo>
                    <a:pt x="50800" y="0"/>
                  </a:moveTo>
                  <a:lnTo>
                    <a:pt x="5664200" y="0"/>
                  </a:lnTo>
                  <a:cubicBezTo>
                    <a:pt x="5692256" y="0"/>
                    <a:pt x="5715000" y="22744"/>
                    <a:pt x="5715000" y="50800"/>
                  </a:cubicBezTo>
                  <a:lnTo>
                    <a:pt x="5715000" y="1600200"/>
                  </a:lnTo>
                  <a:cubicBezTo>
                    <a:pt x="5715000" y="1628256"/>
                    <a:pt x="5692256" y="1651000"/>
                    <a:pt x="5664200" y="1651000"/>
                  </a:cubicBezTo>
                  <a:lnTo>
                    <a:pt x="50800" y="1651000"/>
                  </a:lnTo>
                  <a:cubicBezTo>
                    <a:pt x="22744" y="1651000"/>
                    <a:pt x="0" y="1628256"/>
                    <a:pt x="0" y="1600200"/>
                  </a:cubicBezTo>
                  <a:lnTo>
                    <a:pt x="0" y="50800"/>
                  </a:lnTo>
                  <a:cubicBezTo>
                    <a:pt x="0" y="22744"/>
                    <a:pt x="22744" y="0"/>
                    <a:pt x="50800" y="0"/>
                  </a:cubicBezTo>
                  <a:close/>
                </a:path>
              </a:pathLst>
            </a:custGeom>
            <a:solidFill>
              <a:srgbClr val="FFFFFF"/>
            </a:solidFill>
            <a:ln cap="sq">
              <a:noFill/>
              <a:prstDash val="solid"/>
              <a:miter/>
            </a:ln>
          </p:spPr>
        </p:sp>
        <p:sp>
          <p:nvSpPr>
            <p:cNvPr name="TextBox 20" id="20"/>
            <p:cNvSpPr txBox="true"/>
            <p:nvPr/>
          </p:nvSpPr>
          <p:spPr>
            <a:xfrm>
              <a:off x="0" y="9525"/>
              <a:ext cx="5715000" cy="16414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THỦ KHO</a:t>
              </a:r>
            </a:p>
            <a:p>
              <a:pPr algn="ctr">
                <a:lnSpc>
                  <a:spcPts val="1897"/>
                </a:lnSpc>
              </a:pPr>
              <a:r>
                <a:rPr lang="en-US" sz="1650" b="true">
                  <a:solidFill>
                    <a:srgbClr val="102B3F"/>
                  </a:solidFill>
                  <a:latin typeface="Noto Sans Bold"/>
                  <a:ea typeface="Noto Sans Bold"/>
                  <a:cs typeface="Noto Sans Bold"/>
                  <a:sym typeface="Noto Sans Bold"/>
                </a:rPr>
                <a:t>Nhập • Xuất • Tồn</a:t>
              </a:r>
            </a:p>
          </p:txBody>
        </p:sp>
      </p:grpSp>
      <p:sp>
        <p:nvSpPr>
          <p:cNvPr name="AutoShape 21" id="21"/>
          <p:cNvSpPr/>
          <p:nvPr/>
        </p:nvSpPr>
        <p:spPr>
          <a:xfrm flipH="true">
            <a:off x="9001125" y="4905375"/>
            <a:ext cx="142875" cy="2714625"/>
          </a:xfrm>
          <a:prstGeom prst="line">
            <a:avLst/>
          </a:prstGeom>
          <a:ln cap="flat" w="28575">
            <a:solidFill>
              <a:srgbClr val="168AAD"/>
            </a:solidFill>
            <a:prstDash val="sysDash"/>
            <a:headEnd type="none" len="sm" w="sm"/>
            <a:tailEnd type="none" len="sm" w="sm"/>
          </a:ln>
        </p:spPr>
      </p:sp>
      <p:grpSp>
        <p:nvGrpSpPr>
          <p:cNvPr name="Group 22" id="22"/>
          <p:cNvGrpSpPr/>
          <p:nvPr/>
        </p:nvGrpSpPr>
        <p:grpSpPr>
          <a:xfrm rot="0">
            <a:off x="7000875" y="6953250"/>
            <a:ext cx="4000500" cy="1238250"/>
            <a:chOff x="0" y="0"/>
            <a:chExt cx="5334000" cy="1651000"/>
          </a:xfrm>
        </p:grpSpPr>
        <p:sp>
          <p:nvSpPr>
            <p:cNvPr name="Freeform 23" id="23"/>
            <p:cNvSpPr/>
            <p:nvPr/>
          </p:nvSpPr>
          <p:spPr>
            <a:xfrm flipH="false" flipV="false" rot="0">
              <a:off x="0" y="0"/>
              <a:ext cx="5334000" cy="1651000"/>
            </a:xfrm>
            <a:custGeom>
              <a:avLst/>
              <a:gdLst/>
              <a:ahLst/>
              <a:cxnLst/>
              <a:rect r="r" b="b" t="t" l="l"/>
              <a:pathLst>
                <a:path h="1651000" w="5334000">
                  <a:moveTo>
                    <a:pt x="54429" y="0"/>
                  </a:moveTo>
                  <a:lnTo>
                    <a:pt x="5279572" y="0"/>
                  </a:lnTo>
                  <a:cubicBezTo>
                    <a:pt x="5309631" y="0"/>
                    <a:pt x="5334000" y="24369"/>
                    <a:pt x="5334000" y="54429"/>
                  </a:cubicBezTo>
                  <a:lnTo>
                    <a:pt x="5334000" y="1596571"/>
                  </a:lnTo>
                  <a:cubicBezTo>
                    <a:pt x="5334000" y="1626632"/>
                    <a:pt x="5309631" y="1651000"/>
                    <a:pt x="5279572" y="1651000"/>
                  </a:cubicBezTo>
                  <a:lnTo>
                    <a:pt x="54429" y="1651000"/>
                  </a:lnTo>
                  <a:cubicBezTo>
                    <a:pt x="24369" y="1651000"/>
                    <a:pt x="0" y="1626632"/>
                    <a:pt x="0" y="1596571"/>
                  </a:cubicBezTo>
                  <a:lnTo>
                    <a:pt x="0" y="54429"/>
                  </a:lnTo>
                  <a:cubicBezTo>
                    <a:pt x="0" y="24369"/>
                    <a:pt x="24369" y="0"/>
                    <a:pt x="54429" y="0"/>
                  </a:cubicBezTo>
                  <a:close/>
                </a:path>
              </a:pathLst>
            </a:custGeom>
            <a:solidFill>
              <a:srgbClr val="FFFFFF"/>
            </a:solidFill>
            <a:ln cap="sq">
              <a:noFill/>
              <a:prstDash val="solid"/>
              <a:miter/>
            </a:ln>
          </p:spPr>
        </p:sp>
        <p:sp>
          <p:nvSpPr>
            <p:cNvPr name="TextBox 24" id="24"/>
            <p:cNvSpPr txBox="true"/>
            <p:nvPr/>
          </p:nvSpPr>
          <p:spPr>
            <a:xfrm>
              <a:off x="0" y="9525"/>
              <a:ext cx="5334000" cy="16414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KẾ TOÁN</a:t>
              </a:r>
            </a:p>
            <a:p>
              <a:pPr algn="ctr">
                <a:lnSpc>
                  <a:spcPts val="1897"/>
                </a:lnSpc>
              </a:pPr>
              <a:r>
                <a:rPr lang="en-US" sz="1650" b="true">
                  <a:solidFill>
                    <a:srgbClr val="102B3F"/>
                  </a:solidFill>
                  <a:latin typeface="Noto Sans Bold"/>
                  <a:ea typeface="Noto Sans Bold"/>
                  <a:cs typeface="Noto Sans Bold"/>
                  <a:sym typeface="Noto Sans Bold"/>
                </a:rPr>
                <a:t>Công nợ • Phiếu thu</a:t>
              </a:r>
            </a:p>
          </p:txBody>
        </p:sp>
      </p:grpSp>
      <p:sp>
        <p:nvSpPr>
          <p:cNvPr name="AutoShape 25" id="25"/>
          <p:cNvSpPr/>
          <p:nvPr/>
        </p:nvSpPr>
        <p:spPr>
          <a:xfrm>
            <a:off x="9144000" y="4905375"/>
            <a:ext cx="5572125" cy="2524125"/>
          </a:xfrm>
          <a:prstGeom prst="line">
            <a:avLst/>
          </a:prstGeom>
          <a:ln cap="flat" w="28575">
            <a:solidFill>
              <a:srgbClr val="168AAD"/>
            </a:solidFill>
            <a:prstDash val="sysDash"/>
            <a:headEnd type="none" len="sm" w="sm"/>
            <a:tailEnd type="none" len="sm" w="sm"/>
          </a:ln>
        </p:spPr>
      </p:sp>
      <p:grpSp>
        <p:nvGrpSpPr>
          <p:cNvPr name="Group 26" id="26"/>
          <p:cNvGrpSpPr/>
          <p:nvPr/>
        </p:nvGrpSpPr>
        <p:grpSpPr>
          <a:xfrm rot="0">
            <a:off x="12573000" y="6762750"/>
            <a:ext cx="4286250" cy="1238250"/>
            <a:chOff x="0" y="0"/>
            <a:chExt cx="5715000" cy="1651000"/>
          </a:xfrm>
        </p:grpSpPr>
        <p:sp>
          <p:nvSpPr>
            <p:cNvPr name="Freeform 27" id="27"/>
            <p:cNvSpPr/>
            <p:nvPr/>
          </p:nvSpPr>
          <p:spPr>
            <a:xfrm flipH="false" flipV="false" rot="0">
              <a:off x="0" y="0"/>
              <a:ext cx="5715000" cy="1651000"/>
            </a:xfrm>
            <a:custGeom>
              <a:avLst/>
              <a:gdLst/>
              <a:ahLst/>
              <a:cxnLst/>
              <a:rect r="r" b="b" t="t" l="l"/>
              <a:pathLst>
                <a:path h="1651000" w="5715000">
                  <a:moveTo>
                    <a:pt x="50800" y="0"/>
                  </a:moveTo>
                  <a:lnTo>
                    <a:pt x="5664200" y="0"/>
                  </a:lnTo>
                  <a:cubicBezTo>
                    <a:pt x="5692256" y="0"/>
                    <a:pt x="5715000" y="22744"/>
                    <a:pt x="5715000" y="50800"/>
                  </a:cubicBezTo>
                  <a:lnTo>
                    <a:pt x="5715000" y="1600200"/>
                  </a:lnTo>
                  <a:cubicBezTo>
                    <a:pt x="5715000" y="1628256"/>
                    <a:pt x="5692256" y="1651000"/>
                    <a:pt x="5664200" y="1651000"/>
                  </a:cubicBezTo>
                  <a:lnTo>
                    <a:pt x="50800" y="1651000"/>
                  </a:lnTo>
                  <a:cubicBezTo>
                    <a:pt x="22744" y="1651000"/>
                    <a:pt x="0" y="1628256"/>
                    <a:pt x="0" y="1600200"/>
                  </a:cubicBezTo>
                  <a:lnTo>
                    <a:pt x="0" y="50800"/>
                  </a:lnTo>
                  <a:cubicBezTo>
                    <a:pt x="0" y="22744"/>
                    <a:pt x="22744" y="0"/>
                    <a:pt x="50800" y="0"/>
                  </a:cubicBezTo>
                  <a:close/>
                </a:path>
              </a:pathLst>
            </a:custGeom>
            <a:solidFill>
              <a:srgbClr val="FFFFFF"/>
            </a:solidFill>
            <a:ln cap="sq">
              <a:noFill/>
              <a:prstDash val="solid"/>
              <a:miter/>
            </a:ln>
          </p:spPr>
        </p:sp>
        <p:sp>
          <p:nvSpPr>
            <p:cNvPr name="TextBox 28" id="28"/>
            <p:cNvSpPr txBox="true"/>
            <p:nvPr/>
          </p:nvSpPr>
          <p:spPr>
            <a:xfrm>
              <a:off x="0" y="9525"/>
              <a:ext cx="5715000" cy="16414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GIAO HÀNG</a:t>
              </a:r>
            </a:p>
            <a:p>
              <a:pPr algn="ctr">
                <a:lnSpc>
                  <a:spcPts val="1897"/>
                </a:lnSpc>
              </a:pPr>
              <a:r>
                <a:rPr lang="en-US" sz="1650" b="true">
                  <a:solidFill>
                    <a:srgbClr val="102B3F"/>
                  </a:solidFill>
                  <a:latin typeface="Noto Sans Bold"/>
                  <a:ea typeface="Noto Sans Bold"/>
                  <a:cs typeface="Noto Sans Bold"/>
                  <a:sym typeface="Noto Sans Bold"/>
                </a:rPr>
                <a:t>Nhận đơn • Cập nhật</a:t>
              </a:r>
            </a:p>
          </p:txBody>
        </p:sp>
      </p:grpSp>
      <p:grpSp>
        <p:nvGrpSpPr>
          <p:cNvPr name="Group 29" id="29"/>
          <p:cNvGrpSpPr/>
          <p:nvPr/>
        </p:nvGrpSpPr>
        <p:grpSpPr>
          <a:xfrm rot="0">
            <a:off x="990600" y="9696450"/>
            <a:ext cx="16249650" cy="228600"/>
            <a:chOff x="0" y="0"/>
            <a:chExt cx="21666200" cy="304800"/>
          </a:xfrm>
        </p:grpSpPr>
        <p:sp>
          <p:nvSpPr>
            <p:cNvPr name="TextBox 30" id="30"/>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31" id="31"/>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03</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071A2B"/>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55D6BE"/>
                  </a:solidFill>
                  <a:latin typeface="Noto Sans Bold"/>
                  <a:ea typeface="Noto Sans Bold"/>
                  <a:cs typeface="Noto Sans Bold"/>
                  <a:sym typeface="Noto Sans Bold"/>
                </a:rPr>
                <a:t>03 — KIẾN TRÚC TỔNG THỂ</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FFFFFF"/>
                  </a:solidFill>
                  <a:latin typeface="Be Vietnam Ultra-Bold"/>
                  <a:ea typeface="Be Vietnam Ultra-Bold"/>
                  <a:cs typeface="Be Vietnam Ultra-Bold"/>
                  <a:sym typeface="Be Vietnam Ultra-Bold"/>
                </a:rPr>
                <a:t>Client–Server phân tầng, đồng bộ qua REST</a:t>
              </a:r>
            </a:p>
          </p:txBody>
        </p:sp>
        <p:sp>
          <p:nvSpPr>
            <p:cNvPr name="AutoShape 5" id="5"/>
            <p:cNvSpPr/>
            <p:nvPr/>
          </p:nvSpPr>
          <p:spPr>
            <a:xfrm>
              <a:off x="0" y="1600200"/>
              <a:ext cx="21742400" cy="0"/>
            </a:xfrm>
            <a:prstGeom prst="line">
              <a:avLst/>
            </a:prstGeom>
            <a:ln cap="flat" w="25400">
              <a:solidFill>
                <a:srgbClr val="55D6BE"/>
              </a:solidFill>
              <a:prstDash val="solid"/>
              <a:headEnd type="none" len="sm" w="sm"/>
              <a:tailEnd type="none" len="sm" w="sm"/>
            </a:ln>
          </p:spPr>
        </p:sp>
      </p:grpSp>
      <p:grpSp>
        <p:nvGrpSpPr>
          <p:cNvPr name="Group 6" id="6"/>
          <p:cNvGrpSpPr/>
          <p:nvPr/>
        </p:nvGrpSpPr>
        <p:grpSpPr>
          <a:xfrm rot="0">
            <a:off x="1143000" y="3143250"/>
            <a:ext cx="5334000" cy="3714750"/>
            <a:chOff x="0" y="0"/>
            <a:chExt cx="7112000" cy="4953000"/>
          </a:xfrm>
        </p:grpSpPr>
        <p:sp>
          <p:nvSpPr>
            <p:cNvPr name="Freeform 7" id="7"/>
            <p:cNvSpPr/>
            <p:nvPr/>
          </p:nvSpPr>
          <p:spPr>
            <a:xfrm flipH="false" flipV="false" rot="0">
              <a:off x="0" y="0"/>
              <a:ext cx="7112000" cy="4953000"/>
            </a:xfrm>
            <a:custGeom>
              <a:avLst/>
              <a:gdLst/>
              <a:ahLst/>
              <a:cxnLst/>
              <a:rect r="r" b="b" t="t" l="l"/>
              <a:pathLst>
                <a:path h="4953000" w="7112000">
                  <a:moveTo>
                    <a:pt x="40821" y="0"/>
                  </a:moveTo>
                  <a:lnTo>
                    <a:pt x="7071178" y="0"/>
                  </a:lnTo>
                  <a:cubicBezTo>
                    <a:pt x="7082005" y="0"/>
                    <a:pt x="7092388" y="4301"/>
                    <a:pt x="7100043" y="11956"/>
                  </a:cubicBezTo>
                  <a:cubicBezTo>
                    <a:pt x="7107699" y="19612"/>
                    <a:pt x="7112000" y="29995"/>
                    <a:pt x="7112000" y="40821"/>
                  </a:cubicBezTo>
                  <a:lnTo>
                    <a:pt x="7112000" y="4912178"/>
                  </a:lnTo>
                  <a:cubicBezTo>
                    <a:pt x="7112000" y="4923005"/>
                    <a:pt x="7107699" y="4933388"/>
                    <a:pt x="7100043" y="4941044"/>
                  </a:cubicBezTo>
                  <a:cubicBezTo>
                    <a:pt x="7092388" y="4948699"/>
                    <a:pt x="7082005" y="4953000"/>
                    <a:pt x="7071178" y="4953000"/>
                  </a:cubicBezTo>
                  <a:lnTo>
                    <a:pt x="40821" y="4953000"/>
                  </a:lnTo>
                  <a:cubicBezTo>
                    <a:pt x="29995" y="4953000"/>
                    <a:pt x="19612" y="4948699"/>
                    <a:pt x="11956" y="4941044"/>
                  </a:cubicBezTo>
                  <a:cubicBezTo>
                    <a:pt x="4301" y="4933388"/>
                    <a:pt x="0" y="4923005"/>
                    <a:pt x="0" y="4912178"/>
                  </a:cubicBezTo>
                  <a:lnTo>
                    <a:pt x="0" y="40821"/>
                  </a:lnTo>
                  <a:cubicBezTo>
                    <a:pt x="0" y="29995"/>
                    <a:pt x="4301" y="19612"/>
                    <a:pt x="11956" y="11956"/>
                  </a:cubicBezTo>
                  <a:cubicBezTo>
                    <a:pt x="19612" y="4301"/>
                    <a:pt x="29995" y="0"/>
                    <a:pt x="40821" y="0"/>
                  </a:cubicBezTo>
                  <a:close/>
                </a:path>
              </a:pathLst>
            </a:custGeom>
            <a:solidFill>
              <a:srgbClr val="FFFFFF"/>
            </a:solidFill>
            <a:ln cap="sq">
              <a:noFill/>
              <a:prstDash val="solid"/>
              <a:miter/>
            </a:ln>
          </p:spPr>
        </p:sp>
        <p:sp>
          <p:nvSpPr>
            <p:cNvPr name="TextBox 8" id="8"/>
            <p:cNvSpPr txBox="true"/>
            <p:nvPr/>
          </p:nvSpPr>
          <p:spPr>
            <a:xfrm>
              <a:off x="0" y="9525"/>
              <a:ext cx="7112000" cy="49434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ANDROID CLIENT</a:t>
              </a:r>
            </a:p>
            <a:p>
              <a:pPr algn="ctr">
                <a:lnSpc>
                  <a:spcPts val="1897"/>
                </a:lnSpc>
              </a:pPr>
              <a:r>
                <a:rPr lang="en-US" sz="1650" b="true">
                  <a:solidFill>
                    <a:srgbClr val="102B3F"/>
                  </a:solidFill>
                  <a:latin typeface="Noto Sans Bold"/>
                  <a:ea typeface="Noto Sans Bold"/>
                  <a:cs typeface="Noto Sans Bold"/>
                  <a:sym typeface="Noto Sans Bold"/>
                </a:rPr>
                <a:t>Kotlin / Java</a:t>
              </a:r>
            </a:p>
            <a:p>
              <a:pPr algn="ctr">
                <a:lnSpc>
                  <a:spcPts val="1897"/>
                </a:lnSpc>
              </a:pPr>
              <a:r>
                <a:rPr lang="en-US" sz="1650" b="true">
                  <a:solidFill>
                    <a:srgbClr val="102B3F"/>
                  </a:solidFill>
                  <a:latin typeface="Noto Sans Bold"/>
                  <a:ea typeface="Noto Sans Bold"/>
                  <a:cs typeface="Noto Sans Bold"/>
                  <a:sym typeface="Noto Sans Bold"/>
                </a:rPr>
                <a:t>Flat Design • Retrofit</a:t>
              </a:r>
            </a:p>
            <a:p>
              <a:pPr algn="ctr">
                <a:lnSpc>
                  <a:spcPts val="1897"/>
                </a:lnSpc>
              </a:pPr>
              <a:r>
                <a:rPr lang="en-US" sz="1650" b="true">
                  <a:solidFill>
                    <a:srgbClr val="102B3F"/>
                  </a:solidFill>
                  <a:latin typeface="Noto Sans Bold"/>
                  <a:ea typeface="Noto Sans Bold"/>
                  <a:cs typeface="Noto Sans Bold"/>
                  <a:sym typeface="Noto Sans Bold"/>
                </a:rPr>
                <a:t>SessionManager</a:t>
              </a:r>
            </a:p>
          </p:txBody>
        </p:sp>
      </p:grpSp>
      <p:sp>
        <p:nvSpPr>
          <p:cNvPr name="AutoShape 9" id="9"/>
          <p:cNvSpPr/>
          <p:nvPr/>
        </p:nvSpPr>
        <p:spPr>
          <a:xfrm flipH="true">
            <a:off x="6000750" y="5000625"/>
            <a:ext cx="476250" cy="0"/>
          </a:xfrm>
          <a:prstGeom prst="line">
            <a:avLst/>
          </a:prstGeom>
          <a:ln cap="rnd" w="76200">
            <a:solidFill>
              <a:srgbClr val="FF6B5B"/>
            </a:solidFill>
            <a:prstDash val="solid"/>
            <a:headEnd type="none" len="sm" w="sm"/>
            <a:tailEnd type="none" len="sm" w="sm"/>
          </a:ln>
        </p:spPr>
      </p:sp>
      <p:grpSp>
        <p:nvGrpSpPr>
          <p:cNvPr name="Group 10" id="10"/>
          <p:cNvGrpSpPr/>
          <p:nvPr/>
        </p:nvGrpSpPr>
        <p:grpSpPr>
          <a:xfrm rot="0">
            <a:off x="6191250" y="3143250"/>
            <a:ext cx="5334000" cy="3714750"/>
            <a:chOff x="0" y="0"/>
            <a:chExt cx="7112000" cy="4953000"/>
          </a:xfrm>
        </p:grpSpPr>
        <p:sp>
          <p:nvSpPr>
            <p:cNvPr name="Freeform 11" id="11"/>
            <p:cNvSpPr/>
            <p:nvPr/>
          </p:nvSpPr>
          <p:spPr>
            <a:xfrm flipH="false" flipV="false" rot="0">
              <a:off x="0" y="0"/>
              <a:ext cx="7112000" cy="4953000"/>
            </a:xfrm>
            <a:custGeom>
              <a:avLst/>
              <a:gdLst/>
              <a:ahLst/>
              <a:cxnLst/>
              <a:rect r="r" b="b" t="t" l="l"/>
              <a:pathLst>
                <a:path h="4953000" w="7112000">
                  <a:moveTo>
                    <a:pt x="40821" y="0"/>
                  </a:moveTo>
                  <a:lnTo>
                    <a:pt x="7071178" y="0"/>
                  </a:lnTo>
                  <a:cubicBezTo>
                    <a:pt x="7082005" y="0"/>
                    <a:pt x="7092388" y="4301"/>
                    <a:pt x="7100043" y="11956"/>
                  </a:cubicBezTo>
                  <a:cubicBezTo>
                    <a:pt x="7107699" y="19612"/>
                    <a:pt x="7112000" y="29995"/>
                    <a:pt x="7112000" y="40821"/>
                  </a:cubicBezTo>
                  <a:lnTo>
                    <a:pt x="7112000" y="4912178"/>
                  </a:lnTo>
                  <a:cubicBezTo>
                    <a:pt x="7112000" y="4923005"/>
                    <a:pt x="7107699" y="4933388"/>
                    <a:pt x="7100043" y="4941044"/>
                  </a:cubicBezTo>
                  <a:cubicBezTo>
                    <a:pt x="7092388" y="4948699"/>
                    <a:pt x="7082005" y="4953000"/>
                    <a:pt x="7071178" y="4953000"/>
                  </a:cubicBezTo>
                  <a:lnTo>
                    <a:pt x="40821" y="4953000"/>
                  </a:lnTo>
                  <a:cubicBezTo>
                    <a:pt x="29995" y="4953000"/>
                    <a:pt x="19612" y="4948699"/>
                    <a:pt x="11956" y="4941044"/>
                  </a:cubicBezTo>
                  <a:cubicBezTo>
                    <a:pt x="4301" y="4933388"/>
                    <a:pt x="0" y="4923005"/>
                    <a:pt x="0" y="4912178"/>
                  </a:cubicBezTo>
                  <a:lnTo>
                    <a:pt x="0" y="40821"/>
                  </a:lnTo>
                  <a:cubicBezTo>
                    <a:pt x="0" y="29995"/>
                    <a:pt x="4301" y="19612"/>
                    <a:pt x="11956" y="11956"/>
                  </a:cubicBezTo>
                  <a:cubicBezTo>
                    <a:pt x="19612" y="4301"/>
                    <a:pt x="29995" y="0"/>
                    <a:pt x="40821" y="0"/>
                  </a:cubicBezTo>
                  <a:close/>
                </a:path>
              </a:pathLst>
            </a:custGeom>
            <a:solidFill>
              <a:srgbClr val="55D6BE"/>
            </a:solidFill>
            <a:ln cap="sq">
              <a:noFill/>
              <a:prstDash val="solid"/>
              <a:miter/>
            </a:ln>
          </p:spPr>
        </p:sp>
        <p:sp>
          <p:nvSpPr>
            <p:cNvPr name="TextBox 12" id="12"/>
            <p:cNvSpPr txBox="true"/>
            <p:nvPr/>
          </p:nvSpPr>
          <p:spPr>
            <a:xfrm>
              <a:off x="0" y="9525"/>
              <a:ext cx="7112000" cy="49434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SPRING BOOT</a:t>
              </a:r>
            </a:p>
            <a:p>
              <a:pPr algn="ctr">
                <a:lnSpc>
                  <a:spcPts val="1897"/>
                </a:lnSpc>
              </a:pPr>
              <a:r>
                <a:rPr lang="en-US" sz="1650" b="true">
                  <a:solidFill>
                    <a:srgbClr val="102B3F"/>
                  </a:solidFill>
                  <a:latin typeface="Noto Sans Bold"/>
                  <a:ea typeface="Noto Sans Bold"/>
                  <a:cs typeface="Noto Sans Bold"/>
                  <a:sym typeface="Noto Sans Bold"/>
                </a:rPr>
                <a:t>Business Services</a:t>
              </a:r>
            </a:p>
            <a:p>
              <a:pPr algn="ctr">
                <a:lnSpc>
                  <a:spcPts val="1897"/>
                </a:lnSpc>
              </a:pPr>
              <a:r>
                <a:rPr lang="en-US" sz="1650" b="true">
                  <a:solidFill>
                    <a:srgbClr val="102B3F"/>
                  </a:solidFill>
                  <a:latin typeface="Noto Sans Bold"/>
                  <a:ea typeface="Noto Sans Bold"/>
                  <a:cs typeface="Noto Sans Bold"/>
                  <a:sym typeface="Noto Sans Bold"/>
                </a:rPr>
                <a:t>RESTful API • JSON</a:t>
              </a:r>
            </a:p>
            <a:p>
              <a:pPr algn="ctr">
                <a:lnSpc>
                  <a:spcPts val="1897"/>
                </a:lnSpc>
              </a:pPr>
              <a:r>
                <a:rPr lang="en-US" sz="1650" b="true">
                  <a:solidFill>
                    <a:srgbClr val="102B3F"/>
                  </a:solidFill>
                  <a:latin typeface="Noto Sans Bold"/>
                  <a:ea typeface="Noto Sans Bold"/>
                  <a:cs typeface="Noto Sans Bold"/>
                  <a:sym typeface="Noto Sans Bold"/>
                </a:rPr>
                <a:t>Xác thực &amp; phân quyền</a:t>
              </a:r>
            </a:p>
          </p:txBody>
        </p:sp>
      </p:grpSp>
      <p:sp>
        <p:nvSpPr>
          <p:cNvPr name="AutoShape 13" id="13"/>
          <p:cNvSpPr/>
          <p:nvPr/>
        </p:nvSpPr>
        <p:spPr>
          <a:xfrm flipH="true">
            <a:off x="11144250" y="5000625"/>
            <a:ext cx="381000" cy="0"/>
          </a:xfrm>
          <a:prstGeom prst="line">
            <a:avLst/>
          </a:prstGeom>
          <a:ln cap="rnd" w="76200">
            <a:solidFill>
              <a:srgbClr val="FF6B5B"/>
            </a:solidFill>
            <a:prstDash val="solid"/>
            <a:headEnd type="none" len="sm" w="sm"/>
            <a:tailEnd type="none" len="sm" w="sm"/>
          </a:ln>
        </p:spPr>
      </p:sp>
      <p:grpSp>
        <p:nvGrpSpPr>
          <p:cNvPr name="Group 14" id="14"/>
          <p:cNvGrpSpPr/>
          <p:nvPr/>
        </p:nvGrpSpPr>
        <p:grpSpPr>
          <a:xfrm rot="0">
            <a:off x="11334750" y="3143250"/>
            <a:ext cx="5334000" cy="3714750"/>
            <a:chOff x="0" y="0"/>
            <a:chExt cx="7112000" cy="4953000"/>
          </a:xfrm>
        </p:grpSpPr>
        <p:sp>
          <p:nvSpPr>
            <p:cNvPr name="Freeform 15" id="15"/>
            <p:cNvSpPr/>
            <p:nvPr/>
          </p:nvSpPr>
          <p:spPr>
            <a:xfrm flipH="false" flipV="false" rot="0">
              <a:off x="0" y="0"/>
              <a:ext cx="7112000" cy="4953000"/>
            </a:xfrm>
            <a:custGeom>
              <a:avLst/>
              <a:gdLst/>
              <a:ahLst/>
              <a:cxnLst/>
              <a:rect r="r" b="b" t="t" l="l"/>
              <a:pathLst>
                <a:path h="4953000" w="7112000">
                  <a:moveTo>
                    <a:pt x="40821" y="0"/>
                  </a:moveTo>
                  <a:lnTo>
                    <a:pt x="7071178" y="0"/>
                  </a:lnTo>
                  <a:cubicBezTo>
                    <a:pt x="7082005" y="0"/>
                    <a:pt x="7092388" y="4301"/>
                    <a:pt x="7100043" y="11956"/>
                  </a:cubicBezTo>
                  <a:cubicBezTo>
                    <a:pt x="7107699" y="19612"/>
                    <a:pt x="7112000" y="29995"/>
                    <a:pt x="7112000" y="40821"/>
                  </a:cubicBezTo>
                  <a:lnTo>
                    <a:pt x="7112000" y="4912178"/>
                  </a:lnTo>
                  <a:cubicBezTo>
                    <a:pt x="7112000" y="4923005"/>
                    <a:pt x="7107699" y="4933388"/>
                    <a:pt x="7100043" y="4941044"/>
                  </a:cubicBezTo>
                  <a:cubicBezTo>
                    <a:pt x="7092388" y="4948699"/>
                    <a:pt x="7082005" y="4953000"/>
                    <a:pt x="7071178" y="4953000"/>
                  </a:cubicBezTo>
                  <a:lnTo>
                    <a:pt x="40821" y="4953000"/>
                  </a:lnTo>
                  <a:cubicBezTo>
                    <a:pt x="29995" y="4953000"/>
                    <a:pt x="19612" y="4948699"/>
                    <a:pt x="11956" y="4941044"/>
                  </a:cubicBezTo>
                  <a:cubicBezTo>
                    <a:pt x="4301" y="4933388"/>
                    <a:pt x="0" y="4923005"/>
                    <a:pt x="0" y="4912178"/>
                  </a:cubicBezTo>
                  <a:lnTo>
                    <a:pt x="0" y="40821"/>
                  </a:lnTo>
                  <a:cubicBezTo>
                    <a:pt x="0" y="29995"/>
                    <a:pt x="4301" y="19612"/>
                    <a:pt x="11956" y="11956"/>
                  </a:cubicBezTo>
                  <a:cubicBezTo>
                    <a:pt x="19612" y="4301"/>
                    <a:pt x="29995" y="0"/>
                    <a:pt x="40821" y="0"/>
                  </a:cubicBezTo>
                  <a:close/>
                </a:path>
              </a:pathLst>
            </a:custGeom>
            <a:solidFill>
              <a:srgbClr val="FFFFFF"/>
            </a:solidFill>
            <a:ln cap="sq">
              <a:noFill/>
              <a:prstDash val="solid"/>
              <a:miter/>
            </a:ln>
          </p:spPr>
        </p:sp>
        <p:sp>
          <p:nvSpPr>
            <p:cNvPr name="TextBox 16" id="16"/>
            <p:cNvSpPr txBox="true"/>
            <p:nvPr/>
          </p:nvSpPr>
          <p:spPr>
            <a:xfrm>
              <a:off x="0" y="9525"/>
              <a:ext cx="7112000" cy="49434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SQL SERVER</a:t>
              </a:r>
            </a:p>
            <a:p>
              <a:pPr algn="ctr">
                <a:lnSpc>
                  <a:spcPts val="1897"/>
                </a:lnSpc>
              </a:pPr>
              <a:r>
                <a:rPr lang="en-US" sz="1650" b="true">
                  <a:solidFill>
                    <a:srgbClr val="102B3F"/>
                  </a:solidFill>
                  <a:latin typeface="Noto Sans Bold"/>
                  <a:ea typeface="Noto Sans Bold"/>
                  <a:cs typeface="Noto Sans Bold"/>
                  <a:sym typeface="Noto Sans Bold"/>
                </a:rPr>
                <a:t>12 bảng • Chuẩn hóa 3NF</a:t>
              </a:r>
            </a:p>
            <a:p>
              <a:pPr algn="ctr">
                <a:lnSpc>
                  <a:spcPts val="1897"/>
                </a:lnSpc>
              </a:pPr>
              <a:r>
                <a:rPr lang="en-US" sz="1650" b="true">
                  <a:solidFill>
                    <a:srgbClr val="102B3F"/>
                  </a:solidFill>
                  <a:latin typeface="Noto Sans Bold"/>
                  <a:ea typeface="Noto Sans Bold"/>
                  <a:cs typeface="Noto Sans Bold"/>
                  <a:sym typeface="Noto Sans Bold"/>
                </a:rPr>
                <a:t>Giao dịch nhất quán</a:t>
              </a:r>
            </a:p>
            <a:p>
              <a:pPr algn="ctr">
                <a:lnSpc>
                  <a:spcPts val="1897"/>
                </a:lnSpc>
              </a:pPr>
              <a:r>
                <a:rPr lang="en-US" sz="1650" b="true">
                  <a:solidFill>
                    <a:srgbClr val="102B3F"/>
                  </a:solidFill>
                  <a:latin typeface="Noto Sans Bold"/>
                  <a:ea typeface="Noto Sans Bold"/>
                  <a:cs typeface="Noto Sans Bold"/>
                  <a:sym typeface="Noto Sans Bold"/>
                </a:rPr>
                <a:t>Sao lưu tập trung</a:t>
              </a:r>
            </a:p>
          </p:txBody>
        </p:sp>
      </p:grpSp>
      <p:sp>
        <p:nvSpPr>
          <p:cNvPr name="TextBox 17" id="17"/>
          <p:cNvSpPr txBox="true"/>
          <p:nvPr/>
        </p:nvSpPr>
        <p:spPr>
          <a:xfrm rot="0">
            <a:off x="2762250" y="7591425"/>
            <a:ext cx="12763500" cy="297180"/>
          </a:xfrm>
          <a:prstGeom prst="rect">
            <a:avLst/>
          </a:prstGeom>
        </p:spPr>
        <p:txBody>
          <a:bodyPr anchor="t" rtlCol="false" tIns="0" lIns="0" bIns="0" rIns="0">
            <a:spAutoFit/>
          </a:bodyPr>
          <a:lstStyle/>
          <a:p>
            <a:pPr algn="ctr">
              <a:lnSpc>
                <a:spcPts val="2520"/>
              </a:lnSpc>
            </a:pPr>
            <a:r>
              <a:rPr lang="en-US" b="true" sz="1800" spc="215">
                <a:solidFill>
                  <a:srgbClr val="55D6BE"/>
                </a:solidFill>
                <a:latin typeface="Noto Sans Bold"/>
                <a:ea typeface="Noto Sans Bold"/>
                <a:cs typeface="Noto Sans Bold"/>
                <a:sym typeface="Noto Sans Bold"/>
              </a:rPr>
              <a:t>REQUEST  →  VALIDATE  →  PROCESS  →  PERSIST  →  RESPONSE</a:t>
            </a:r>
          </a:p>
        </p:txBody>
      </p:sp>
      <p:grpSp>
        <p:nvGrpSpPr>
          <p:cNvPr name="Group 18" id="18"/>
          <p:cNvGrpSpPr/>
          <p:nvPr/>
        </p:nvGrpSpPr>
        <p:grpSpPr>
          <a:xfrm rot="0">
            <a:off x="990600" y="9696450"/>
            <a:ext cx="16249650" cy="228600"/>
            <a:chOff x="0" y="0"/>
            <a:chExt cx="21666200" cy="304800"/>
          </a:xfrm>
        </p:grpSpPr>
        <p:sp>
          <p:nvSpPr>
            <p:cNvPr name="TextBox 19" id="19"/>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55D6BE"/>
                  </a:solidFill>
                  <a:latin typeface="Noto Sans Bold"/>
                  <a:ea typeface="Noto Sans Bold"/>
                  <a:cs typeface="Noto Sans Bold"/>
                  <a:sym typeface="Noto Sans Bold"/>
                </a:rPr>
                <a:t>BOOKFLOW  •  ĐỒ ÁN ỨNG DỤNG DI ĐỘNG</a:t>
              </a:r>
            </a:p>
          </p:txBody>
        </p:sp>
        <p:sp>
          <p:nvSpPr>
            <p:cNvPr name="TextBox 20" id="20"/>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FFFFFF"/>
                  </a:solidFill>
                  <a:latin typeface="Noto Sans Bold"/>
                  <a:ea typeface="Noto Sans Bold"/>
                  <a:cs typeface="Noto Sans Bold"/>
                  <a:sym typeface="Noto Sans Bold"/>
                </a:rPr>
                <a:t>04</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04 — CƠ SỞ DỮ LIỆU &amp; NGHIỆP VỤ LÕI</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102B3F"/>
                  </a:solidFill>
                  <a:latin typeface="Be Vietnam Ultra-Bold"/>
                  <a:ea typeface="Be Vietnam Ultra-Bold"/>
                  <a:cs typeface="Be Vietnam Ultra-Bold"/>
                  <a:sym typeface="Be Vietnam Ultra-Bold"/>
                </a:rPr>
                <a:t>12 bảng — một nguồn dữ liệu nhất quán</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grpSp>
        <p:nvGrpSpPr>
          <p:cNvPr name="Group 6" id="6"/>
          <p:cNvGrpSpPr/>
          <p:nvPr/>
        </p:nvGrpSpPr>
        <p:grpSpPr>
          <a:xfrm rot="0">
            <a:off x="1047750" y="2619375"/>
            <a:ext cx="3476625" cy="4095750"/>
            <a:chOff x="0" y="0"/>
            <a:chExt cx="4635500" cy="5461000"/>
          </a:xfrm>
        </p:grpSpPr>
        <p:grpSp>
          <p:nvGrpSpPr>
            <p:cNvPr name="Group 7" id="7"/>
            <p:cNvGrpSpPr/>
            <p:nvPr/>
          </p:nvGrpSpPr>
          <p:grpSpPr>
            <a:xfrm rot="0">
              <a:off x="0" y="0"/>
              <a:ext cx="4635500" cy="5461000"/>
              <a:chOff x="0" y="0"/>
              <a:chExt cx="4635500" cy="5461000"/>
            </a:xfrm>
          </p:grpSpPr>
          <p:sp>
            <p:nvSpPr>
              <p:cNvPr name="Freeform 8" id="8"/>
              <p:cNvSpPr/>
              <p:nvPr/>
            </p:nvSpPr>
            <p:spPr>
              <a:xfrm flipH="false" flipV="false" rot="0">
                <a:off x="0" y="0"/>
                <a:ext cx="4635500" cy="5461000"/>
              </a:xfrm>
              <a:custGeom>
                <a:avLst/>
                <a:gdLst/>
                <a:ahLst/>
                <a:cxnLst/>
                <a:rect r="r" b="b" t="t" l="l"/>
                <a:pathLst>
                  <a:path h="5461000" w="4635500">
                    <a:moveTo>
                      <a:pt x="0" y="0"/>
                    </a:moveTo>
                    <a:lnTo>
                      <a:pt x="4635500" y="0"/>
                    </a:lnTo>
                    <a:lnTo>
                      <a:pt x="4635500" y="5461000"/>
                    </a:lnTo>
                    <a:lnTo>
                      <a:pt x="0" y="5461000"/>
                    </a:lnTo>
                    <a:close/>
                  </a:path>
                </a:pathLst>
              </a:custGeom>
              <a:solidFill>
                <a:srgbClr val="DFF4EE"/>
              </a:solidFill>
              <a:ln cap="sq">
                <a:noFill/>
                <a:prstDash val="solid"/>
                <a:miter/>
              </a:ln>
            </p:spPr>
          </p:sp>
          <p:sp>
            <p:nvSpPr>
              <p:cNvPr name="TextBox 9" id="9"/>
              <p:cNvSpPr txBox="true"/>
              <p:nvPr/>
            </p:nvSpPr>
            <p:spPr>
              <a:xfrm>
                <a:off x="0" y="-38100"/>
                <a:ext cx="4635500" cy="5499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431800" y="441325"/>
              <a:ext cx="4191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ĐỊNH DANH</a:t>
              </a:r>
            </a:p>
          </p:txBody>
        </p:sp>
        <p:sp>
          <p:nvSpPr>
            <p:cNvPr name="TextBox 11" id="11"/>
            <p:cNvSpPr txBox="true"/>
            <p:nvPr/>
          </p:nvSpPr>
          <p:spPr>
            <a:xfrm rot="0">
              <a:off x="431800" y="1298575"/>
              <a:ext cx="4191000" cy="1209675"/>
            </a:xfrm>
            <a:prstGeom prst="rect">
              <a:avLst/>
            </a:prstGeom>
          </p:spPr>
          <p:txBody>
            <a:bodyPr anchor="t" rtlCol="false" tIns="0" lIns="0" bIns="0" rIns="0">
              <a:spAutoFit/>
            </a:bodyPr>
            <a:lstStyle/>
            <a:p>
              <a:pPr algn="l">
                <a:lnSpc>
                  <a:spcPts val="2362"/>
                </a:lnSpc>
              </a:pPr>
              <a:r>
                <a:rPr lang="en-US" sz="2250" b="true">
                  <a:solidFill>
                    <a:srgbClr val="102B3F"/>
                  </a:solidFill>
                  <a:latin typeface="Be Vietnam Ultra-Bold"/>
                  <a:ea typeface="Be Vietnam Ultra-Bold"/>
                  <a:cs typeface="Be Vietnam Ultra-Bold"/>
                  <a:sym typeface="Be Vietnam Ultra-Bold"/>
                </a:rPr>
                <a:t>users</a:t>
              </a:r>
            </a:p>
            <a:p>
              <a:pPr algn="l">
                <a:lnSpc>
                  <a:spcPts val="2362"/>
                </a:lnSpc>
              </a:pPr>
              <a:r>
                <a:rPr lang="en-US" sz="2250" b="true">
                  <a:solidFill>
                    <a:srgbClr val="102B3F"/>
                  </a:solidFill>
                  <a:latin typeface="Be Vietnam Ultra-Bold"/>
                  <a:ea typeface="Be Vietnam Ultra-Bold"/>
                  <a:cs typeface="Be Vietnam Ultra-Bold"/>
                  <a:sym typeface="Be Vietnam Ultra-Bold"/>
                </a:rPr>
                <a:t>roles</a:t>
              </a:r>
            </a:p>
            <a:p>
              <a:pPr algn="l">
                <a:lnSpc>
                  <a:spcPts val="2362"/>
                </a:lnSpc>
              </a:pPr>
              <a:r>
                <a:rPr lang="en-US" sz="2250" b="true">
                  <a:solidFill>
                    <a:srgbClr val="102B3F"/>
                  </a:solidFill>
                  <a:latin typeface="Be Vietnam Ultra-Bold"/>
                  <a:ea typeface="Be Vietnam Ultra-Bold"/>
                  <a:cs typeface="Be Vietnam Ultra-Bold"/>
                  <a:sym typeface="Be Vietnam Ultra-Bold"/>
                </a:rPr>
                <a:t>customers</a:t>
              </a:r>
            </a:p>
          </p:txBody>
        </p:sp>
      </p:grpSp>
      <p:sp>
        <p:nvSpPr>
          <p:cNvPr name="AutoShape 12" id="12"/>
          <p:cNvSpPr/>
          <p:nvPr/>
        </p:nvSpPr>
        <p:spPr>
          <a:xfrm>
            <a:off x="4524375" y="4667250"/>
            <a:ext cx="762000" cy="0"/>
          </a:xfrm>
          <a:prstGeom prst="line">
            <a:avLst/>
          </a:prstGeom>
          <a:ln cap="flat" w="28575">
            <a:solidFill>
              <a:srgbClr val="102B3F"/>
            </a:solidFill>
            <a:prstDash val="sysDot"/>
            <a:headEnd type="none" len="sm" w="sm"/>
            <a:tailEnd type="none" len="sm" w="sm"/>
          </a:ln>
        </p:spPr>
      </p:sp>
      <p:grpSp>
        <p:nvGrpSpPr>
          <p:cNvPr name="Group 13" id="13"/>
          <p:cNvGrpSpPr/>
          <p:nvPr/>
        </p:nvGrpSpPr>
        <p:grpSpPr>
          <a:xfrm rot="0">
            <a:off x="5286375" y="2619375"/>
            <a:ext cx="3476625" cy="4095750"/>
            <a:chOff x="0" y="0"/>
            <a:chExt cx="4635500" cy="5461000"/>
          </a:xfrm>
        </p:grpSpPr>
        <p:grpSp>
          <p:nvGrpSpPr>
            <p:cNvPr name="Group 14" id="14"/>
            <p:cNvGrpSpPr/>
            <p:nvPr/>
          </p:nvGrpSpPr>
          <p:grpSpPr>
            <a:xfrm rot="0">
              <a:off x="0" y="0"/>
              <a:ext cx="4635500" cy="5461000"/>
              <a:chOff x="0" y="0"/>
              <a:chExt cx="4635500" cy="5461000"/>
            </a:xfrm>
          </p:grpSpPr>
          <p:sp>
            <p:nvSpPr>
              <p:cNvPr name="Freeform 15" id="15"/>
              <p:cNvSpPr/>
              <p:nvPr/>
            </p:nvSpPr>
            <p:spPr>
              <a:xfrm flipH="false" flipV="false" rot="0">
                <a:off x="0" y="0"/>
                <a:ext cx="4635500" cy="5461000"/>
              </a:xfrm>
              <a:custGeom>
                <a:avLst/>
                <a:gdLst/>
                <a:ahLst/>
                <a:cxnLst/>
                <a:rect r="r" b="b" t="t" l="l"/>
                <a:pathLst>
                  <a:path h="5461000" w="4635500">
                    <a:moveTo>
                      <a:pt x="0" y="0"/>
                    </a:moveTo>
                    <a:lnTo>
                      <a:pt x="4635500" y="0"/>
                    </a:lnTo>
                    <a:lnTo>
                      <a:pt x="4635500" y="5461000"/>
                    </a:lnTo>
                    <a:lnTo>
                      <a:pt x="0" y="5461000"/>
                    </a:lnTo>
                    <a:close/>
                  </a:path>
                </a:pathLst>
              </a:custGeom>
              <a:solidFill>
                <a:srgbClr val="FFF0CF"/>
              </a:solidFill>
              <a:ln cap="sq">
                <a:noFill/>
                <a:prstDash val="solid"/>
                <a:miter/>
              </a:ln>
            </p:spPr>
          </p:sp>
          <p:sp>
            <p:nvSpPr>
              <p:cNvPr name="TextBox 16" id="16"/>
              <p:cNvSpPr txBox="true"/>
              <p:nvPr/>
            </p:nvSpPr>
            <p:spPr>
              <a:xfrm>
                <a:off x="0" y="-38100"/>
                <a:ext cx="4635500" cy="54991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431800" y="441325"/>
              <a:ext cx="4191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DANH MỤC</a:t>
              </a:r>
            </a:p>
          </p:txBody>
        </p:sp>
        <p:sp>
          <p:nvSpPr>
            <p:cNvPr name="TextBox 18" id="18"/>
            <p:cNvSpPr txBox="true"/>
            <p:nvPr/>
          </p:nvSpPr>
          <p:spPr>
            <a:xfrm rot="0">
              <a:off x="431800" y="1298575"/>
              <a:ext cx="4191000" cy="815975"/>
            </a:xfrm>
            <a:prstGeom prst="rect">
              <a:avLst/>
            </a:prstGeom>
          </p:spPr>
          <p:txBody>
            <a:bodyPr anchor="t" rtlCol="false" tIns="0" lIns="0" bIns="0" rIns="0">
              <a:spAutoFit/>
            </a:bodyPr>
            <a:lstStyle/>
            <a:p>
              <a:pPr algn="l">
                <a:lnSpc>
                  <a:spcPts val="2362"/>
                </a:lnSpc>
              </a:pPr>
              <a:r>
                <a:rPr lang="en-US" sz="2250" b="true">
                  <a:solidFill>
                    <a:srgbClr val="102B3F"/>
                  </a:solidFill>
                  <a:latin typeface="Be Vietnam Ultra-Bold"/>
                  <a:ea typeface="Be Vietnam Ultra-Bold"/>
                  <a:cs typeface="Be Vietnam Ultra-Bold"/>
                  <a:sym typeface="Be Vietnam Ultra-Bold"/>
                </a:rPr>
                <a:t>books</a:t>
              </a:r>
            </a:p>
            <a:p>
              <a:pPr algn="l">
                <a:lnSpc>
                  <a:spcPts val="2362"/>
                </a:lnSpc>
              </a:pPr>
              <a:r>
                <a:rPr lang="en-US" sz="2250" b="true">
                  <a:solidFill>
                    <a:srgbClr val="102B3F"/>
                  </a:solidFill>
                  <a:latin typeface="Be Vietnam Ultra-Bold"/>
                  <a:ea typeface="Be Vietnam Ultra-Bold"/>
                  <a:cs typeface="Be Vietnam Ultra-Bold"/>
                  <a:sym typeface="Be Vietnam Ultra-Bold"/>
                </a:rPr>
                <a:t>categories</a:t>
              </a:r>
            </a:p>
          </p:txBody>
        </p:sp>
      </p:grpSp>
      <p:sp>
        <p:nvSpPr>
          <p:cNvPr name="AutoShape 19" id="19"/>
          <p:cNvSpPr/>
          <p:nvPr/>
        </p:nvSpPr>
        <p:spPr>
          <a:xfrm>
            <a:off x="8763000" y="4667250"/>
            <a:ext cx="762000" cy="0"/>
          </a:xfrm>
          <a:prstGeom prst="line">
            <a:avLst/>
          </a:prstGeom>
          <a:ln cap="flat" w="28575">
            <a:solidFill>
              <a:srgbClr val="102B3F"/>
            </a:solidFill>
            <a:prstDash val="sysDot"/>
            <a:headEnd type="none" len="sm" w="sm"/>
            <a:tailEnd type="none" len="sm" w="sm"/>
          </a:ln>
        </p:spPr>
      </p:sp>
      <p:grpSp>
        <p:nvGrpSpPr>
          <p:cNvPr name="Group 20" id="20"/>
          <p:cNvGrpSpPr/>
          <p:nvPr/>
        </p:nvGrpSpPr>
        <p:grpSpPr>
          <a:xfrm rot="0">
            <a:off x="9525000" y="2619375"/>
            <a:ext cx="3476625" cy="4095750"/>
            <a:chOff x="0" y="0"/>
            <a:chExt cx="4635500" cy="5461000"/>
          </a:xfrm>
        </p:grpSpPr>
        <p:grpSp>
          <p:nvGrpSpPr>
            <p:cNvPr name="Group 21" id="21"/>
            <p:cNvGrpSpPr/>
            <p:nvPr/>
          </p:nvGrpSpPr>
          <p:grpSpPr>
            <a:xfrm rot="0">
              <a:off x="0" y="0"/>
              <a:ext cx="4635500" cy="5461000"/>
              <a:chOff x="0" y="0"/>
              <a:chExt cx="4635500" cy="5461000"/>
            </a:xfrm>
          </p:grpSpPr>
          <p:sp>
            <p:nvSpPr>
              <p:cNvPr name="Freeform 22" id="22"/>
              <p:cNvSpPr/>
              <p:nvPr/>
            </p:nvSpPr>
            <p:spPr>
              <a:xfrm flipH="false" flipV="false" rot="0">
                <a:off x="0" y="0"/>
                <a:ext cx="4635500" cy="5461000"/>
              </a:xfrm>
              <a:custGeom>
                <a:avLst/>
                <a:gdLst/>
                <a:ahLst/>
                <a:cxnLst/>
                <a:rect r="r" b="b" t="t" l="l"/>
                <a:pathLst>
                  <a:path h="5461000" w="4635500">
                    <a:moveTo>
                      <a:pt x="0" y="0"/>
                    </a:moveTo>
                    <a:lnTo>
                      <a:pt x="4635500" y="0"/>
                    </a:lnTo>
                    <a:lnTo>
                      <a:pt x="4635500" y="5461000"/>
                    </a:lnTo>
                    <a:lnTo>
                      <a:pt x="0" y="5461000"/>
                    </a:lnTo>
                    <a:close/>
                  </a:path>
                </a:pathLst>
              </a:custGeom>
              <a:solidFill>
                <a:srgbClr val="FFE7DF"/>
              </a:solidFill>
              <a:ln cap="sq">
                <a:noFill/>
                <a:prstDash val="solid"/>
                <a:miter/>
              </a:ln>
            </p:spPr>
          </p:sp>
          <p:sp>
            <p:nvSpPr>
              <p:cNvPr name="TextBox 23" id="23"/>
              <p:cNvSpPr txBox="true"/>
              <p:nvPr/>
            </p:nvSpPr>
            <p:spPr>
              <a:xfrm>
                <a:off x="0" y="-38100"/>
                <a:ext cx="4635500" cy="54991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431800" y="441325"/>
              <a:ext cx="4191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ĐƠN &amp; KHO</a:t>
              </a:r>
            </a:p>
          </p:txBody>
        </p:sp>
        <p:sp>
          <p:nvSpPr>
            <p:cNvPr name="TextBox 25" id="25"/>
            <p:cNvSpPr txBox="true"/>
            <p:nvPr/>
          </p:nvSpPr>
          <p:spPr>
            <a:xfrm rot="0">
              <a:off x="431800" y="1308100"/>
              <a:ext cx="4191000" cy="779145"/>
            </a:xfrm>
            <a:prstGeom prst="rect">
              <a:avLst/>
            </a:prstGeom>
          </p:spPr>
          <p:txBody>
            <a:bodyPr anchor="t" rtlCol="false" tIns="0" lIns="0" bIns="0" rIns="0">
              <a:spAutoFit/>
            </a:bodyPr>
            <a:lstStyle/>
            <a:p>
              <a:pPr algn="l">
                <a:lnSpc>
                  <a:spcPts val="2283"/>
                </a:lnSpc>
              </a:pPr>
              <a:r>
                <a:rPr lang="en-US" sz="2175" b="true">
                  <a:solidFill>
                    <a:srgbClr val="102B3F"/>
                  </a:solidFill>
                  <a:latin typeface="Be Vietnam Ultra-Bold"/>
                  <a:ea typeface="Be Vietnam Ultra-Bold"/>
                  <a:cs typeface="Be Vietnam Ultra-Bold"/>
                  <a:sym typeface="Be Vietnam Ultra-Bold"/>
                </a:rPr>
                <a:t>orders • order_details</a:t>
              </a:r>
            </a:p>
            <a:p>
              <a:pPr algn="l">
                <a:lnSpc>
                  <a:spcPts val="2283"/>
                </a:lnSpc>
              </a:pPr>
              <a:r>
                <a:rPr lang="en-US" sz="2175" b="true">
                  <a:solidFill>
                    <a:srgbClr val="102B3F"/>
                  </a:solidFill>
                  <a:latin typeface="Be Vietnam Ultra-Bold"/>
                  <a:ea typeface="Be Vietnam Ultra-Bold"/>
                  <a:cs typeface="Be Vietnam Ultra-Bold"/>
                  <a:sym typeface="Be Vietnam Ultra-Bold"/>
                </a:rPr>
                <a:t>warehouses • inventory</a:t>
              </a:r>
            </a:p>
          </p:txBody>
        </p:sp>
      </p:grpSp>
      <p:sp>
        <p:nvSpPr>
          <p:cNvPr name="AutoShape 26" id="26"/>
          <p:cNvSpPr/>
          <p:nvPr/>
        </p:nvSpPr>
        <p:spPr>
          <a:xfrm>
            <a:off x="13001625" y="4667250"/>
            <a:ext cx="762000" cy="0"/>
          </a:xfrm>
          <a:prstGeom prst="line">
            <a:avLst/>
          </a:prstGeom>
          <a:ln cap="flat" w="28575">
            <a:solidFill>
              <a:srgbClr val="102B3F"/>
            </a:solidFill>
            <a:prstDash val="sysDot"/>
            <a:headEnd type="none" len="sm" w="sm"/>
            <a:tailEnd type="none" len="sm" w="sm"/>
          </a:ln>
        </p:spPr>
      </p:sp>
      <p:grpSp>
        <p:nvGrpSpPr>
          <p:cNvPr name="Group 27" id="27"/>
          <p:cNvGrpSpPr/>
          <p:nvPr/>
        </p:nvGrpSpPr>
        <p:grpSpPr>
          <a:xfrm rot="0">
            <a:off x="13763625" y="2619375"/>
            <a:ext cx="3476625" cy="4095750"/>
            <a:chOff x="0" y="0"/>
            <a:chExt cx="4635500" cy="5461000"/>
          </a:xfrm>
        </p:grpSpPr>
        <p:grpSp>
          <p:nvGrpSpPr>
            <p:cNvPr name="Group 28" id="28"/>
            <p:cNvGrpSpPr/>
            <p:nvPr/>
          </p:nvGrpSpPr>
          <p:grpSpPr>
            <a:xfrm rot="0">
              <a:off x="0" y="0"/>
              <a:ext cx="4635500" cy="5461000"/>
              <a:chOff x="0" y="0"/>
              <a:chExt cx="4635500" cy="5461000"/>
            </a:xfrm>
          </p:grpSpPr>
          <p:sp>
            <p:nvSpPr>
              <p:cNvPr name="Freeform 29" id="29"/>
              <p:cNvSpPr/>
              <p:nvPr/>
            </p:nvSpPr>
            <p:spPr>
              <a:xfrm flipH="false" flipV="false" rot="0">
                <a:off x="0" y="0"/>
                <a:ext cx="4635500" cy="5461000"/>
              </a:xfrm>
              <a:custGeom>
                <a:avLst/>
                <a:gdLst/>
                <a:ahLst/>
                <a:cxnLst/>
                <a:rect r="r" b="b" t="t" l="l"/>
                <a:pathLst>
                  <a:path h="5461000" w="4635500">
                    <a:moveTo>
                      <a:pt x="0" y="0"/>
                    </a:moveTo>
                    <a:lnTo>
                      <a:pt x="4635500" y="0"/>
                    </a:lnTo>
                    <a:lnTo>
                      <a:pt x="4635500" y="5461000"/>
                    </a:lnTo>
                    <a:lnTo>
                      <a:pt x="0" y="5461000"/>
                    </a:lnTo>
                    <a:close/>
                  </a:path>
                </a:pathLst>
              </a:custGeom>
              <a:solidFill>
                <a:srgbClr val="DCEAF2"/>
              </a:solidFill>
              <a:ln cap="sq">
                <a:noFill/>
                <a:prstDash val="solid"/>
                <a:miter/>
              </a:ln>
            </p:spPr>
          </p:sp>
          <p:sp>
            <p:nvSpPr>
              <p:cNvPr name="TextBox 30" id="30"/>
              <p:cNvSpPr txBox="true"/>
              <p:nvPr/>
            </p:nvSpPr>
            <p:spPr>
              <a:xfrm>
                <a:off x="0" y="-38100"/>
                <a:ext cx="4635500" cy="54991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431800" y="441325"/>
              <a:ext cx="4191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TÀI CHÍNH</a:t>
              </a:r>
            </a:p>
          </p:txBody>
        </p:sp>
        <p:sp>
          <p:nvSpPr>
            <p:cNvPr name="TextBox 32" id="32"/>
            <p:cNvSpPr txBox="true"/>
            <p:nvPr/>
          </p:nvSpPr>
          <p:spPr>
            <a:xfrm rot="0">
              <a:off x="431800" y="1298575"/>
              <a:ext cx="4191000" cy="1209675"/>
            </a:xfrm>
            <a:prstGeom prst="rect">
              <a:avLst/>
            </a:prstGeom>
          </p:spPr>
          <p:txBody>
            <a:bodyPr anchor="t" rtlCol="false" tIns="0" lIns="0" bIns="0" rIns="0">
              <a:spAutoFit/>
            </a:bodyPr>
            <a:lstStyle/>
            <a:p>
              <a:pPr algn="l">
                <a:lnSpc>
                  <a:spcPts val="2362"/>
                </a:lnSpc>
              </a:pPr>
              <a:r>
                <a:rPr lang="en-US" sz="2250" b="true">
                  <a:solidFill>
                    <a:srgbClr val="102B3F"/>
                  </a:solidFill>
                  <a:latin typeface="Be Vietnam Ultra-Bold"/>
                  <a:ea typeface="Be Vietnam Ultra-Bold"/>
                  <a:cs typeface="Be Vietnam Ultra-Bold"/>
                  <a:sym typeface="Be Vietnam Ultra-Bold"/>
                </a:rPr>
                <a:t>debts</a:t>
              </a:r>
            </a:p>
            <a:p>
              <a:pPr algn="l">
                <a:lnSpc>
                  <a:spcPts val="2362"/>
                </a:lnSpc>
              </a:pPr>
              <a:r>
                <a:rPr lang="en-US" sz="2250" b="true">
                  <a:solidFill>
                    <a:srgbClr val="102B3F"/>
                  </a:solidFill>
                  <a:latin typeface="Be Vietnam Ultra-Bold"/>
                  <a:ea typeface="Be Vietnam Ultra-Bold"/>
                  <a:cs typeface="Be Vietnam Ultra-Bold"/>
                  <a:sym typeface="Be Vietnam Ultra-Bold"/>
                </a:rPr>
                <a:t>debt_receipts</a:t>
              </a:r>
            </a:p>
            <a:p>
              <a:pPr algn="l">
                <a:lnSpc>
                  <a:spcPts val="2362"/>
                </a:lnSpc>
              </a:pPr>
              <a:r>
                <a:rPr lang="en-US" sz="2250" b="true">
                  <a:solidFill>
                    <a:srgbClr val="102B3F"/>
                  </a:solidFill>
                  <a:latin typeface="Be Vietnam Ultra-Bold"/>
                  <a:ea typeface="Be Vietnam Ultra-Bold"/>
                  <a:cs typeface="Be Vietnam Ultra-Bold"/>
                  <a:sym typeface="Be Vietnam Ultra-Bold"/>
                </a:rPr>
                <a:t>revenues</a:t>
              </a:r>
            </a:p>
          </p:txBody>
        </p:sp>
      </p:grpSp>
      <p:sp>
        <p:nvSpPr>
          <p:cNvPr name="TextBox 33" id="33"/>
          <p:cNvSpPr txBox="true"/>
          <p:nvPr/>
        </p:nvSpPr>
        <p:spPr>
          <a:xfrm rot="0">
            <a:off x="2095500" y="7639050"/>
            <a:ext cx="14097000" cy="340995"/>
          </a:xfrm>
          <a:prstGeom prst="rect">
            <a:avLst/>
          </a:prstGeom>
        </p:spPr>
        <p:txBody>
          <a:bodyPr anchor="t" rtlCol="false" tIns="0" lIns="0" bIns="0" rIns="0">
            <a:spAutoFit/>
          </a:bodyPr>
          <a:lstStyle/>
          <a:p>
            <a:pPr algn="ctr">
              <a:lnSpc>
                <a:spcPts val="2835"/>
              </a:lnSpc>
            </a:pPr>
            <a:r>
              <a:rPr lang="en-US" sz="2100">
                <a:solidFill>
                  <a:srgbClr val="102B3F"/>
                </a:solidFill>
                <a:latin typeface="Noto Sans"/>
                <a:ea typeface="Noto Sans"/>
                <a:cs typeface="Noto Sans"/>
                <a:sym typeface="Noto Sans"/>
              </a:rPr>
              <a:t>PK–FK rõ ràng  •  CASCADE DELETE có kiểm soát  •  Transaction bảo toàn tồn kho &amp; công nợ</a:t>
            </a:r>
          </a:p>
        </p:txBody>
      </p:sp>
      <p:grpSp>
        <p:nvGrpSpPr>
          <p:cNvPr name="Group 34" id="34"/>
          <p:cNvGrpSpPr/>
          <p:nvPr/>
        </p:nvGrpSpPr>
        <p:grpSpPr>
          <a:xfrm rot="0">
            <a:off x="990600" y="9696450"/>
            <a:ext cx="16249650" cy="228600"/>
            <a:chOff x="0" y="0"/>
            <a:chExt cx="21666200" cy="304800"/>
          </a:xfrm>
        </p:grpSpPr>
        <p:sp>
          <p:nvSpPr>
            <p:cNvPr name="TextBox 35" id="35"/>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36" id="36"/>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05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05 — GIAO DIỆN XÁC THỰC</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102B3F"/>
                  </a:solidFill>
                  <a:latin typeface="Be Vietnam Ultra-Bold"/>
                  <a:ea typeface="Be Vietnam Ultra-Bold"/>
                  <a:cs typeface="Be Vietnam Ultra-Bold"/>
                  <a:sym typeface="Be Vietnam Ultra-Bold"/>
                </a:rPr>
                <a:t>Xác thực rõ ràng, cập nhật hồ sơ nhanh</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sp>
        <p:nvSpPr>
          <p:cNvPr name="Freeform 6" id="6"/>
          <p:cNvSpPr/>
          <p:nvPr/>
        </p:nvSpPr>
        <p:spPr>
          <a:xfrm flipH="false" flipV="false" rot="0">
            <a:off x="8191500" y="2143125"/>
            <a:ext cx="8572500" cy="6858000"/>
          </a:xfrm>
          <a:custGeom>
            <a:avLst/>
            <a:gdLst/>
            <a:ahLst/>
            <a:cxnLst/>
            <a:rect r="r" b="b" t="t" l="l"/>
            <a:pathLst>
              <a:path h="6858000" w="8572500">
                <a:moveTo>
                  <a:pt x="0" y="0"/>
                </a:moveTo>
                <a:lnTo>
                  <a:pt x="8572500" y="0"/>
                </a:lnTo>
                <a:lnTo>
                  <a:pt x="8572500" y="6858000"/>
                </a:lnTo>
                <a:lnTo>
                  <a:pt x="0" y="6858000"/>
                </a:lnTo>
                <a:lnTo>
                  <a:pt x="0" y="0"/>
                </a:lnTo>
                <a:close/>
              </a:path>
            </a:pathLst>
          </a:custGeom>
          <a:blipFill>
            <a:blip r:embed="rId2"/>
            <a:stretch>
              <a:fillRect l="-21111" t="0" r="-21111" b="0"/>
            </a:stretch>
          </a:blipFill>
          <a:ln cap="sq">
            <a:noFill/>
            <a:prstDash val="solid"/>
            <a:miter/>
          </a:ln>
        </p:spPr>
      </p:sp>
      <p:sp>
        <p:nvSpPr>
          <p:cNvPr name="TextBox 7" id="7"/>
          <p:cNvSpPr txBox="true"/>
          <p:nvPr/>
        </p:nvSpPr>
        <p:spPr>
          <a:xfrm rot="0">
            <a:off x="1047750" y="2819400"/>
            <a:ext cx="5715000" cy="281940"/>
          </a:xfrm>
          <a:prstGeom prst="rect">
            <a:avLst/>
          </a:prstGeom>
        </p:spPr>
        <p:txBody>
          <a:bodyPr anchor="t" rtlCol="false" tIns="0" lIns="0" bIns="0" rIns="0">
            <a:spAutoFit/>
          </a:bodyPr>
          <a:lstStyle/>
          <a:p>
            <a:pPr algn="l">
              <a:lnSpc>
                <a:spcPts val="2310"/>
              </a:lnSpc>
            </a:pPr>
            <a:r>
              <a:rPr lang="en-US" sz="1650" spc="198" b="true">
                <a:solidFill>
                  <a:srgbClr val="FF6B5B"/>
                </a:solidFill>
                <a:latin typeface="Noto Sans Bold"/>
                <a:ea typeface="Noto Sans Bold"/>
                <a:cs typeface="Noto Sans Bold"/>
                <a:sym typeface="Noto Sans Bold"/>
              </a:rPr>
              <a:t>REGISTER ACTIVITY</a:t>
            </a:r>
          </a:p>
        </p:txBody>
      </p:sp>
      <p:sp>
        <p:nvSpPr>
          <p:cNvPr name="TextBox 8" id="8"/>
          <p:cNvSpPr txBox="true"/>
          <p:nvPr/>
        </p:nvSpPr>
        <p:spPr>
          <a:xfrm rot="0">
            <a:off x="1047750" y="3371850"/>
            <a:ext cx="5905500" cy="779621"/>
          </a:xfrm>
          <a:prstGeom prst="rect">
            <a:avLst/>
          </a:prstGeom>
        </p:spPr>
        <p:txBody>
          <a:bodyPr anchor="t" rtlCol="false" tIns="0" lIns="0" bIns="0" rIns="0">
            <a:spAutoFit/>
          </a:bodyPr>
          <a:lstStyle/>
          <a:p>
            <a:pPr algn="l">
              <a:lnSpc>
                <a:spcPts val="3071"/>
              </a:lnSpc>
            </a:pPr>
            <a:r>
              <a:rPr lang="en-US" sz="2925" b="true">
                <a:solidFill>
                  <a:srgbClr val="102B3F"/>
                </a:solidFill>
                <a:latin typeface="Be Vietnam Ultra-Bold"/>
                <a:ea typeface="Be Vietnam Ultra-Bold"/>
                <a:cs typeface="Be Vietnam Ultra-Bold"/>
                <a:sym typeface="Be Vietnam Ultra-Bold"/>
              </a:rPr>
              <a:t>Họ tên • SĐT • tài khoản • mật khẩu</a:t>
            </a:r>
          </a:p>
        </p:txBody>
      </p:sp>
      <p:sp>
        <p:nvSpPr>
          <p:cNvPr name="TextBox 9" id="9"/>
          <p:cNvSpPr txBox="true"/>
          <p:nvPr/>
        </p:nvSpPr>
        <p:spPr>
          <a:xfrm rot="0">
            <a:off x="1047750" y="4914900"/>
            <a:ext cx="5905500" cy="1028224"/>
          </a:xfrm>
          <a:prstGeom prst="rect">
            <a:avLst/>
          </a:prstGeom>
        </p:spPr>
        <p:txBody>
          <a:bodyPr anchor="t" rtlCol="false" tIns="0" lIns="0" bIns="0" rIns="0">
            <a:spAutoFit/>
          </a:bodyPr>
          <a:lstStyle/>
          <a:p>
            <a:pPr algn="l">
              <a:lnSpc>
                <a:spcPts val="2733"/>
              </a:lnSpc>
            </a:pPr>
            <a:r>
              <a:rPr lang="en-US" sz="2025">
                <a:solidFill>
                  <a:srgbClr val="6D7B82"/>
                </a:solidFill>
                <a:latin typeface="Noto Sans"/>
                <a:ea typeface="Noto Sans"/>
                <a:cs typeface="Noto Sans"/>
                <a:sym typeface="Noto Sans"/>
              </a:rPr>
              <a:t>Password Toggle</a:t>
            </a:r>
          </a:p>
          <a:p>
            <a:pPr algn="l">
              <a:lnSpc>
                <a:spcPts val="2733"/>
              </a:lnSpc>
            </a:pPr>
            <a:r>
              <a:rPr lang="en-US" sz="2025">
                <a:solidFill>
                  <a:srgbClr val="6D7B82"/>
                </a:solidFill>
                <a:latin typeface="Noto Sans"/>
                <a:ea typeface="Noto Sans"/>
                <a:cs typeface="Noto Sans"/>
                <a:sym typeface="Noto Sans"/>
              </a:rPr>
              <a:t>Kiểm tra hợp lệ client-side</a:t>
            </a:r>
          </a:p>
          <a:p>
            <a:pPr algn="l">
              <a:lnSpc>
                <a:spcPts val="2733"/>
              </a:lnSpc>
            </a:pPr>
            <a:r>
              <a:rPr lang="en-US" sz="2025">
                <a:solidFill>
                  <a:srgbClr val="6D7B82"/>
                </a:solidFill>
                <a:latin typeface="Noto Sans"/>
                <a:ea typeface="Noto Sans"/>
                <a:cs typeface="Noto Sans"/>
                <a:sym typeface="Noto Sans"/>
              </a:rPr>
              <a:t>Thông báo lỗi ngay tại trường nhập</a:t>
            </a:r>
          </a:p>
        </p:txBody>
      </p:sp>
      <p:sp>
        <p:nvSpPr>
          <p:cNvPr name="TextBox 10" id="10"/>
          <p:cNvSpPr txBox="true"/>
          <p:nvPr/>
        </p:nvSpPr>
        <p:spPr>
          <a:xfrm rot="0">
            <a:off x="1047750" y="7200900"/>
            <a:ext cx="5715000" cy="281940"/>
          </a:xfrm>
          <a:prstGeom prst="rect">
            <a:avLst/>
          </a:prstGeom>
        </p:spPr>
        <p:txBody>
          <a:bodyPr anchor="t" rtlCol="false" tIns="0" lIns="0" bIns="0" rIns="0">
            <a:spAutoFit/>
          </a:bodyPr>
          <a:lstStyle/>
          <a:p>
            <a:pPr algn="l">
              <a:lnSpc>
                <a:spcPts val="2310"/>
              </a:lnSpc>
            </a:pPr>
            <a:r>
              <a:rPr lang="en-US" sz="1650" spc="198" b="true">
                <a:solidFill>
                  <a:srgbClr val="168AAD"/>
                </a:solidFill>
                <a:latin typeface="Noto Sans Bold"/>
                <a:ea typeface="Noto Sans Bold"/>
                <a:cs typeface="Noto Sans Bold"/>
                <a:sym typeface="Noto Sans Bold"/>
              </a:rPr>
              <a:t>EDIT CUSTOMER</a:t>
            </a:r>
          </a:p>
        </p:txBody>
      </p:sp>
      <p:sp>
        <p:nvSpPr>
          <p:cNvPr name="TextBox 11" id="11"/>
          <p:cNvSpPr txBox="true"/>
          <p:nvPr/>
        </p:nvSpPr>
        <p:spPr>
          <a:xfrm rot="0">
            <a:off x="1047750" y="7753350"/>
            <a:ext cx="5905500" cy="289084"/>
          </a:xfrm>
          <a:prstGeom prst="rect">
            <a:avLst/>
          </a:prstGeom>
        </p:spPr>
        <p:txBody>
          <a:bodyPr anchor="t" rtlCol="false" tIns="0" lIns="0" bIns="0" rIns="0">
            <a:spAutoFit/>
          </a:bodyPr>
          <a:lstStyle/>
          <a:p>
            <a:pPr algn="l">
              <a:lnSpc>
                <a:spcPts val="2283"/>
              </a:lnSpc>
            </a:pPr>
            <a:r>
              <a:rPr lang="en-US" sz="2175" b="true">
                <a:solidFill>
                  <a:srgbClr val="102B3F"/>
                </a:solidFill>
                <a:latin typeface="Be Vietnam Ultra-Bold"/>
                <a:ea typeface="Be Vietnam Ultra-Bold"/>
                <a:cs typeface="Be Vietnam Ultra-Bold"/>
                <a:sym typeface="Be Vietnam Ultra-Bold"/>
              </a:rPr>
              <a:t>Liên hệ • Email • Địa chỉ giao nhận</a:t>
            </a:r>
          </a:p>
        </p:txBody>
      </p:sp>
      <p:grpSp>
        <p:nvGrpSpPr>
          <p:cNvPr name="Group 12" id="12"/>
          <p:cNvGrpSpPr/>
          <p:nvPr/>
        </p:nvGrpSpPr>
        <p:grpSpPr>
          <a:xfrm rot="0">
            <a:off x="990600" y="9696450"/>
            <a:ext cx="16249650" cy="228600"/>
            <a:chOff x="0" y="0"/>
            <a:chExt cx="21666200" cy="304800"/>
          </a:xfrm>
        </p:grpSpPr>
        <p:sp>
          <p:nvSpPr>
            <p:cNvPr name="TextBox 13" id="13"/>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14" id="14"/>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06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06 — QUẢN LÝ THỂ LOẠI</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102B3F"/>
                  </a:solidFill>
                  <a:latin typeface="Be Vietnam Ultra-Bold"/>
                  <a:ea typeface="Be Vietnam Ultra-Bold"/>
                  <a:cs typeface="Be Vietnam Ultra-Bold"/>
                  <a:sym typeface="Be Vietnam Ultra-Bold"/>
                </a:rPr>
                <a:t>Danh mục gọn — tìm nhanh — thao tác tại chỗ</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sp>
        <p:nvSpPr>
          <p:cNvPr name="Freeform 6" id="6"/>
          <p:cNvSpPr/>
          <p:nvPr/>
        </p:nvSpPr>
        <p:spPr>
          <a:xfrm flipH="false" flipV="false" rot="0">
            <a:off x="8763000" y="2190750"/>
            <a:ext cx="7810500" cy="6858000"/>
          </a:xfrm>
          <a:custGeom>
            <a:avLst/>
            <a:gdLst/>
            <a:ahLst/>
            <a:cxnLst/>
            <a:rect r="r" b="b" t="t" l="l"/>
            <a:pathLst>
              <a:path h="6858000" w="7810500">
                <a:moveTo>
                  <a:pt x="0" y="0"/>
                </a:moveTo>
                <a:lnTo>
                  <a:pt x="7810500" y="0"/>
                </a:lnTo>
                <a:lnTo>
                  <a:pt x="7810500" y="6858000"/>
                </a:lnTo>
                <a:lnTo>
                  <a:pt x="0" y="6858000"/>
                </a:lnTo>
                <a:lnTo>
                  <a:pt x="0" y="0"/>
                </a:lnTo>
                <a:close/>
              </a:path>
            </a:pathLst>
          </a:custGeom>
          <a:blipFill>
            <a:blip r:embed="rId2"/>
            <a:stretch>
              <a:fillRect l="-28048" t="0" r="-28048" b="0"/>
            </a:stretch>
          </a:blipFill>
          <a:ln cap="sq">
            <a:noFill/>
            <a:prstDash val="solid"/>
            <a:miter/>
          </a:ln>
        </p:spPr>
      </p:sp>
      <p:sp>
        <p:nvSpPr>
          <p:cNvPr name="TextBox 7" id="7"/>
          <p:cNvSpPr txBox="true"/>
          <p:nvPr/>
        </p:nvSpPr>
        <p:spPr>
          <a:xfrm rot="0">
            <a:off x="1047750" y="2838450"/>
            <a:ext cx="6477000" cy="1455420"/>
          </a:xfrm>
          <a:prstGeom prst="rect">
            <a:avLst/>
          </a:prstGeom>
        </p:spPr>
        <p:txBody>
          <a:bodyPr anchor="t" rtlCol="false" tIns="0" lIns="0" bIns="0" rIns="0">
            <a:spAutoFit/>
          </a:bodyPr>
          <a:lstStyle/>
          <a:p>
            <a:pPr algn="l">
              <a:lnSpc>
                <a:spcPts val="5670"/>
              </a:lnSpc>
            </a:pPr>
            <a:r>
              <a:rPr lang="en-US" sz="5400" b="true">
                <a:solidFill>
                  <a:srgbClr val="102B3F"/>
                </a:solidFill>
                <a:latin typeface="Be Vietnam Ultra-Bold"/>
                <a:ea typeface="Be Vietnam Ultra-Bold"/>
                <a:cs typeface="Be Vietnam Ultra-Bold"/>
                <a:sym typeface="Be Vietnam Ultra-Bold"/>
              </a:rPr>
              <a:t>THELOAI</a:t>
            </a:r>
          </a:p>
          <a:p>
            <a:pPr algn="l">
              <a:lnSpc>
                <a:spcPts val="5670"/>
              </a:lnSpc>
            </a:pPr>
            <a:r>
              <a:rPr lang="en-US" sz="5400" b="true">
                <a:solidFill>
                  <a:srgbClr val="102B3F"/>
                </a:solidFill>
                <a:latin typeface="Be Vietnam Ultra-Bold"/>
                <a:ea typeface="Be Vietnam Ultra-Bold"/>
                <a:cs typeface="Be Vietnam Ultra-Bold"/>
                <a:sym typeface="Be Vietnam Ultra-Bold"/>
              </a:rPr>
              <a:t>ACTIVITY</a:t>
            </a:r>
          </a:p>
        </p:txBody>
      </p:sp>
      <p:sp>
        <p:nvSpPr>
          <p:cNvPr name="TextBox 8" id="8"/>
          <p:cNvSpPr txBox="true"/>
          <p:nvPr/>
        </p:nvSpPr>
        <p:spPr>
          <a:xfrm rot="0">
            <a:off x="1047750" y="4924425"/>
            <a:ext cx="6191250" cy="1473041"/>
          </a:xfrm>
          <a:prstGeom prst="rect">
            <a:avLst/>
          </a:prstGeom>
        </p:spPr>
        <p:txBody>
          <a:bodyPr anchor="t" rtlCol="false" tIns="0" lIns="0" bIns="0" rIns="0">
            <a:spAutoFit/>
          </a:bodyPr>
          <a:lstStyle/>
          <a:p>
            <a:pPr algn="l">
              <a:lnSpc>
                <a:spcPts val="2936"/>
              </a:lnSpc>
            </a:pPr>
            <a:r>
              <a:rPr lang="en-US" sz="2175">
                <a:solidFill>
                  <a:srgbClr val="6D7B82"/>
                </a:solidFill>
                <a:latin typeface="Noto Sans"/>
                <a:ea typeface="Noto Sans"/>
                <a:cs typeface="Noto Sans"/>
                <a:sym typeface="Noto Sans"/>
              </a:rPr>
              <a:t>Tìm kiếm nhanh và nhãn tổng số thể loại. Mỗi CardView hiển thị mã TL, số đầu sách, từ khóa mô tả cùng các tác vụ thêm, sửa, xóa và xem sách.</a:t>
            </a:r>
          </a:p>
        </p:txBody>
      </p:sp>
      <p:sp>
        <p:nvSpPr>
          <p:cNvPr name="TextBox 9" id="9"/>
          <p:cNvSpPr txBox="true"/>
          <p:nvPr/>
        </p:nvSpPr>
        <p:spPr>
          <a:xfrm rot="0">
            <a:off x="1047750" y="7724775"/>
            <a:ext cx="6191250" cy="274320"/>
          </a:xfrm>
          <a:prstGeom prst="rect">
            <a:avLst/>
          </a:prstGeom>
        </p:spPr>
        <p:txBody>
          <a:bodyPr anchor="t" rtlCol="false" tIns="0" lIns="0" bIns="0" rIns="0">
            <a:spAutoFit/>
          </a:bodyPr>
          <a:lstStyle/>
          <a:p>
            <a:pPr algn="l">
              <a:lnSpc>
                <a:spcPts val="2204"/>
              </a:lnSpc>
            </a:pPr>
            <a:r>
              <a:rPr lang="en-US" sz="1575" spc="189" b="true">
                <a:solidFill>
                  <a:srgbClr val="168AAD"/>
                </a:solidFill>
                <a:latin typeface="Noto Sans Bold"/>
                <a:ea typeface="Noto Sans Bold"/>
                <a:cs typeface="Noto Sans Bold"/>
                <a:sym typeface="Noto Sans Bold"/>
              </a:rPr>
              <a:t>CRUD  •  SEARCH  •  FILTER</a:t>
            </a:r>
          </a:p>
        </p:txBody>
      </p:sp>
      <p:grpSp>
        <p:nvGrpSpPr>
          <p:cNvPr name="Group 10" id="10"/>
          <p:cNvGrpSpPr/>
          <p:nvPr/>
        </p:nvGrpSpPr>
        <p:grpSpPr>
          <a:xfrm rot="0">
            <a:off x="990600" y="9696450"/>
            <a:ext cx="16249650" cy="228600"/>
            <a:chOff x="0" y="0"/>
            <a:chExt cx="21666200" cy="304800"/>
          </a:xfrm>
        </p:grpSpPr>
        <p:sp>
          <p:nvSpPr>
            <p:cNvPr name="TextBox 11" id="11"/>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12" id="12"/>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07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1A2B"/>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55D6BE"/>
                  </a:solidFill>
                  <a:latin typeface="Noto Sans Bold"/>
                  <a:ea typeface="Noto Sans Bold"/>
                  <a:cs typeface="Noto Sans Bold"/>
                  <a:sym typeface="Noto Sans Bold"/>
                </a:rPr>
                <a:t>07 — TRANG CHỦ &amp; SẢN PHẨM</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FFFFFF"/>
                  </a:solidFill>
                  <a:latin typeface="Be Vietnam Ultra-Bold"/>
                  <a:ea typeface="Be Vietnam Ultra-Bold"/>
                  <a:cs typeface="Be Vietnam Ultra-Bold"/>
                  <a:sym typeface="Be Vietnam Ultra-Bold"/>
                </a:rPr>
                <a:t>Khám phá sách bằng văn bản hoặc hình ảnh</a:t>
              </a:r>
            </a:p>
          </p:txBody>
        </p:sp>
        <p:sp>
          <p:nvSpPr>
            <p:cNvPr name="AutoShape 5" id="5"/>
            <p:cNvSpPr/>
            <p:nvPr/>
          </p:nvSpPr>
          <p:spPr>
            <a:xfrm>
              <a:off x="0" y="1600200"/>
              <a:ext cx="21742400" cy="0"/>
            </a:xfrm>
            <a:prstGeom prst="line">
              <a:avLst/>
            </a:prstGeom>
            <a:ln cap="flat" w="25400">
              <a:solidFill>
                <a:srgbClr val="55D6BE"/>
              </a:solidFill>
              <a:prstDash val="solid"/>
              <a:headEnd type="none" len="sm" w="sm"/>
              <a:tailEnd type="none" len="sm" w="sm"/>
            </a:ln>
          </p:spPr>
        </p:sp>
      </p:grpSp>
      <p:sp>
        <p:nvSpPr>
          <p:cNvPr name="Freeform 6" id="6"/>
          <p:cNvSpPr/>
          <p:nvPr/>
        </p:nvSpPr>
        <p:spPr>
          <a:xfrm flipH="false" flipV="false" rot="0">
            <a:off x="7239000" y="1952625"/>
            <a:ext cx="10287000" cy="7620000"/>
          </a:xfrm>
          <a:custGeom>
            <a:avLst/>
            <a:gdLst/>
            <a:ahLst/>
            <a:cxnLst/>
            <a:rect r="r" b="b" t="t" l="l"/>
            <a:pathLst>
              <a:path h="7620000" w="10287000">
                <a:moveTo>
                  <a:pt x="0" y="0"/>
                </a:moveTo>
                <a:lnTo>
                  <a:pt x="10287000" y="0"/>
                </a:lnTo>
                <a:lnTo>
                  <a:pt x="10287000" y="7620000"/>
                </a:lnTo>
                <a:lnTo>
                  <a:pt x="0" y="7620000"/>
                </a:lnTo>
                <a:lnTo>
                  <a:pt x="0" y="0"/>
                </a:lnTo>
                <a:close/>
              </a:path>
            </a:pathLst>
          </a:custGeom>
          <a:blipFill>
            <a:blip r:embed="rId2"/>
            <a:stretch>
              <a:fillRect l="-15843" t="0" r="-15843" b="0"/>
            </a:stretch>
          </a:blipFill>
          <a:ln cap="sq">
            <a:noFill/>
            <a:prstDash val="solid"/>
            <a:miter/>
          </a:ln>
        </p:spPr>
      </p:sp>
      <p:sp>
        <p:nvSpPr>
          <p:cNvPr name="TextBox 7" id="7"/>
          <p:cNvSpPr txBox="true"/>
          <p:nvPr/>
        </p:nvSpPr>
        <p:spPr>
          <a:xfrm rot="0">
            <a:off x="1000125" y="2781300"/>
            <a:ext cx="6096000" cy="1239679"/>
          </a:xfrm>
          <a:prstGeom prst="rect">
            <a:avLst/>
          </a:prstGeom>
        </p:spPr>
        <p:txBody>
          <a:bodyPr anchor="t" rtlCol="false" tIns="0" lIns="0" bIns="0" rIns="0">
            <a:spAutoFit/>
          </a:bodyPr>
          <a:lstStyle/>
          <a:p>
            <a:pPr algn="l">
              <a:lnSpc>
                <a:spcPts val="4803"/>
              </a:lnSpc>
            </a:pPr>
            <a:r>
              <a:rPr lang="en-US" sz="4575" b="true">
                <a:solidFill>
                  <a:srgbClr val="FFFFFF"/>
                </a:solidFill>
                <a:latin typeface="Be Vietnam Ultra-Bold"/>
                <a:ea typeface="Be Vietnam Ultra-Bold"/>
                <a:cs typeface="Be Vietnam Ultra-Bold"/>
                <a:sym typeface="Be Vietnam Ultra-Bold"/>
              </a:rPr>
              <a:t>LƯỚI 2 CỘT.</a:t>
            </a:r>
          </a:p>
          <a:p>
            <a:pPr algn="l">
              <a:lnSpc>
                <a:spcPts val="4803"/>
              </a:lnSpc>
            </a:pPr>
            <a:r>
              <a:rPr lang="en-US" sz="4575" b="true">
                <a:solidFill>
                  <a:srgbClr val="FFFFFF"/>
                </a:solidFill>
                <a:latin typeface="Be Vietnam Ultra-Bold"/>
                <a:ea typeface="Be Vietnam Ultra-Bold"/>
                <a:cs typeface="Be Vietnam Ultra-Bold"/>
                <a:sym typeface="Be Vietnam Ultra-Bold"/>
              </a:rPr>
              <a:t>MUA TRONG 1 CHẠM.</a:t>
            </a:r>
          </a:p>
        </p:txBody>
      </p:sp>
      <p:sp>
        <p:nvSpPr>
          <p:cNvPr name="TextBox 8" id="8"/>
          <p:cNvSpPr txBox="true"/>
          <p:nvPr/>
        </p:nvSpPr>
        <p:spPr>
          <a:xfrm rot="0">
            <a:off x="1000125" y="4914900"/>
            <a:ext cx="5429250" cy="1371124"/>
          </a:xfrm>
          <a:prstGeom prst="rect">
            <a:avLst/>
          </a:prstGeom>
        </p:spPr>
        <p:txBody>
          <a:bodyPr anchor="t" rtlCol="false" tIns="0" lIns="0" bIns="0" rIns="0">
            <a:spAutoFit/>
          </a:bodyPr>
          <a:lstStyle/>
          <a:p>
            <a:pPr algn="l">
              <a:lnSpc>
                <a:spcPts val="2733"/>
              </a:lnSpc>
            </a:pPr>
            <a:r>
              <a:rPr lang="en-US" sz="2025">
                <a:solidFill>
                  <a:srgbClr val="C9D8DF"/>
                </a:solidFill>
                <a:latin typeface="Noto Sans"/>
                <a:ea typeface="Noto Sans"/>
                <a:cs typeface="Noto Sans"/>
                <a:sym typeface="Noto Sans"/>
              </a:rPr>
              <a:t>GridLayoutManager hiển thị mã sách, đơn giá, lượng bán và nút CHỌN MUA. Bottom Navigation: Sản phẩm • Đơn hàng • Tài khoản.</a:t>
            </a:r>
          </a:p>
        </p:txBody>
      </p:sp>
      <p:sp>
        <p:nvSpPr>
          <p:cNvPr name="TextBox 9" id="9"/>
          <p:cNvSpPr txBox="true"/>
          <p:nvPr/>
        </p:nvSpPr>
        <p:spPr>
          <a:xfrm rot="0">
            <a:off x="1000125" y="7448550"/>
            <a:ext cx="5810250" cy="232410"/>
          </a:xfrm>
          <a:prstGeom prst="rect">
            <a:avLst/>
          </a:prstGeom>
        </p:spPr>
        <p:txBody>
          <a:bodyPr anchor="t" rtlCol="false" tIns="0" lIns="0" bIns="0" rIns="0">
            <a:spAutoFit/>
          </a:bodyPr>
          <a:lstStyle/>
          <a:p>
            <a:pPr algn="l">
              <a:lnSpc>
                <a:spcPts val="1889"/>
              </a:lnSpc>
            </a:pPr>
            <a:r>
              <a:rPr lang="en-US" sz="1350" spc="162" b="true">
                <a:solidFill>
                  <a:srgbClr val="55D6BE"/>
                </a:solidFill>
                <a:latin typeface="Noto Sans Bold"/>
                <a:ea typeface="Noto Sans Bold"/>
                <a:cs typeface="Noto Sans Bold"/>
                <a:sym typeface="Noto Sans Bold"/>
              </a:rPr>
              <a:t>YÊU THÍCH   −10%   RẺ VÔ ĐỊCH</a:t>
            </a:r>
          </a:p>
        </p:txBody>
      </p:sp>
      <p:grpSp>
        <p:nvGrpSpPr>
          <p:cNvPr name="Group 10" id="10"/>
          <p:cNvGrpSpPr/>
          <p:nvPr/>
        </p:nvGrpSpPr>
        <p:grpSpPr>
          <a:xfrm rot="0">
            <a:off x="990600" y="9696450"/>
            <a:ext cx="16249650" cy="228600"/>
            <a:chOff x="0" y="0"/>
            <a:chExt cx="21666200" cy="304800"/>
          </a:xfrm>
        </p:grpSpPr>
        <p:sp>
          <p:nvSpPr>
            <p:cNvPr name="TextBox 11" id="11"/>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55D6BE"/>
                  </a:solidFill>
                  <a:latin typeface="Noto Sans Bold"/>
                  <a:ea typeface="Noto Sans Bold"/>
                  <a:cs typeface="Noto Sans Bold"/>
                  <a:sym typeface="Noto Sans Bold"/>
                </a:rPr>
                <a:t>BOOKFLOW  •  ĐỒ ÁN ỨNG DỤNG DI ĐỘNG</a:t>
              </a:r>
            </a:p>
          </p:txBody>
        </p:sp>
        <p:sp>
          <p:nvSpPr>
            <p:cNvPr name="TextBox 12" id="12"/>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FFFFFF"/>
                  </a:solidFill>
                  <a:latin typeface="Noto Sans Bold"/>
                  <a:ea typeface="Noto Sans Bold"/>
                  <a:cs typeface="Noto Sans Bold"/>
                  <a:sym typeface="Noto Sans Bold"/>
                </a:rPr>
                <a:t>08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08 — CHI TIẾT SẢN PHẨM &amp; ĐẶT HÀNG</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102B3F"/>
                  </a:solidFill>
                  <a:latin typeface="Be Vietnam Ultra-Bold"/>
                  <a:ea typeface="Be Vietnam Ultra-Bold"/>
                  <a:cs typeface="Be Vietnam Ultra-Bold"/>
                  <a:sym typeface="Be Vietnam Ultra-Bold"/>
                </a:rPr>
                <a:t>Chi tiết đủ sâu, hành động đủ nhanh</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sp>
        <p:nvSpPr>
          <p:cNvPr name="Freeform 6" id="6"/>
          <p:cNvSpPr/>
          <p:nvPr/>
        </p:nvSpPr>
        <p:spPr>
          <a:xfrm flipH="false" flipV="false" rot="0">
            <a:off x="1000125" y="2238375"/>
            <a:ext cx="7810500" cy="6858000"/>
          </a:xfrm>
          <a:custGeom>
            <a:avLst/>
            <a:gdLst/>
            <a:ahLst/>
            <a:cxnLst/>
            <a:rect r="r" b="b" t="t" l="l"/>
            <a:pathLst>
              <a:path h="6858000" w="7810500">
                <a:moveTo>
                  <a:pt x="0" y="0"/>
                </a:moveTo>
                <a:lnTo>
                  <a:pt x="7810500" y="0"/>
                </a:lnTo>
                <a:lnTo>
                  <a:pt x="7810500" y="6858000"/>
                </a:lnTo>
                <a:lnTo>
                  <a:pt x="0" y="6858000"/>
                </a:lnTo>
                <a:lnTo>
                  <a:pt x="0" y="0"/>
                </a:lnTo>
                <a:close/>
              </a:path>
            </a:pathLst>
          </a:custGeom>
          <a:blipFill>
            <a:blip r:embed="rId2"/>
            <a:stretch>
              <a:fillRect l="-28048" t="0" r="-28048" b="0"/>
            </a:stretch>
          </a:blipFill>
          <a:ln cap="sq">
            <a:noFill/>
            <a:prstDash val="solid"/>
            <a:miter/>
          </a:ln>
        </p:spPr>
      </p:sp>
      <p:grpSp>
        <p:nvGrpSpPr>
          <p:cNvPr name="Group 7" id="7"/>
          <p:cNvGrpSpPr/>
          <p:nvPr/>
        </p:nvGrpSpPr>
        <p:grpSpPr>
          <a:xfrm rot="0">
            <a:off x="9620250" y="2809875"/>
            <a:ext cx="6858000" cy="338138"/>
            <a:chOff x="0" y="0"/>
            <a:chExt cx="9144000" cy="450850"/>
          </a:xfrm>
        </p:grpSpPr>
        <p:grpSp>
          <p:nvGrpSpPr>
            <p:cNvPr name="Group 8" id="8"/>
            <p:cNvGrpSpPr/>
            <p:nvPr/>
          </p:nvGrpSpPr>
          <p:grpSpPr>
            <a:xfrm rot="0">
              <a:off x="0" y="114300"/>
              <a:ext cx="279400" cy="279400"/>
              <a:chOff x="0" y="0"/>
              <a:chExt cx="279400" cy="279400"/>
            </a:xfrm>
          </p:grpSpPr>
          <p:sp>
            <p:nvSpPr>
              <p:cNvPr name="Freeform 9" id="9"/>
              <p:cNvSpPr/>
              <p:nvPr/>
            </p:nvSpPr>
            <p:spPr>
              <a:xfrm flipH="false" flipV="false" rot="0">
                <a:off x="0" y="0"/>
                <a:ext cx="279400" cy="279400"/>
              </a:xfrm>
              <a:custGeom>
                <a:avLst/>
                <a:gdLst/>
                <a:ahLst/>
                <a:cxnLst/>
                <a:rect r="r" b="b" t="t" l="l"/>
                <a:pathLst>
                  <a:path h="279400" w="279400">
                    <a:moveTo>
                      <a:pt x="0" y="0"/>
                    </a:moveTo>
                    <a:lnTo>
                      <a:pt x="279400" y="0"/>
                    </a:lnTo>
                    <a:lnTo>
                      <a:pt x="279400" y="279400"/>
                    </a:lnTo>
                    <a:lnTo>
                      <a:pt x="0" y="279400"/>
                    </a:lnTo>
                    <a:close/>
                  </a:path>
                </a:pathLst>
              </a:custGeom>
              <a:solidFill>
                <a:srgbClr val="55D6BE"/>
              </a:solidFill>
              <a:ln cap="sq">
                <a:noFill/>
                <a:prstDash val="solid"/>
                <a:miter/>
              </a:ln>
            </p:spPr>
          </p:sp>
          <p:sp>
            <p:nvSpPr>
              <p:cNvPr name="TextBox 10" id="10"/>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762000" y="28575"/>
              <a:ext cx="8382000" cy="422275"/>
            </a:xfrm>
            <a:prstGeom prst="rect">
              <a:avLst/>
            </a:prstGeom>
          </p:spPr>
          <p:txBody>
            <a:bodyPr anchor="t" rtlCol="false" tIns="0" lIns="0" bIns="0" rIns="0">
              <a:spAutoFit/>
            </a:bodyPr>
            <a:lstStyle/>
            <a:p>
              <a:pPr algn="l">
                <a:lnSpc>
                  <a:spcPts val="2362"/>
                </a:lnSpc>
              </a:pPr>
              <a:r>
                <a:rPr lang="en-US" sz="2250" b="true">
                  <a:solidFill>
                    <a:srgbClr val="102B3F"/>
                  </a:solidFill>
                  <a:latin typeface="Be Vietnam Ultra-Bold"/>
                  <a:ea typeface="Be Vietnam Ultra-Bold"/>
                  <a:cs typeface="Be Vietnam Ultra-Bold"/>
                  <a:sym typeface="Be Vietnam Ultra-Bold"/>
                </a:rPr>
                <a:t>01  Slider ảnh bìa</a:t>
              </a:r>
            </a:p>
          </p:txBody>
        </p:sp>
      </p:grpSp>
      <p:grpSp>
        <p:nvGrpSpPr>
          <p:cNvPr name="Group 12" id="12"/>
          <p:cNvGrpSpPr/>
          <p:nvPr/>
        </p:nvGrpSpPr>
        <p:grpSpPr>
          <a:xfrm rot="0">
            <a:off x="9620250" y="3810000"/>
            <a:ext cx="6858000" cy="338138"/>
            <a:chOff x="0" y="0"/>
            <a:chExt cx="9144000" cy="450850"/>
          </a:xfrm>
        </p:grpSpPr>
        <p:grpSp>
          <p:nvGrpSpPr>
            <p:cNvPr name="Group 13" id="13"/>
            <p:cNvGrpSpPr/>
            <p:nvPr/>
          </p:nvGrpSpPr>
          <p:grpSpPr>
            <a:xfrm rot="0">
              <a:off x="0" y="114300"/>
              <a:ext cx="279400" cy="279400"/>
              <a:chOff x="0" y="0"/>
              <a:chExt cx="279400" cy="279400"/>
            </a:xfrm>
          </p:grpSpPr>
          <p:sp>
            <p:nvSpPr>
              <p:cNvPr name="Freeform 14" id="14"/>
              <p:cNvSpPr/>
              <p:nvPr/>
            </p:nvSpPr>
            <p:spPr>
              <a:xfrm flipH="false" flipV="false" rot="0">
                <a:off x="0" y="0"/>
                <a:ext cx="279400" cy="279400"/>
              </a:xfrm>
              <a:custGeom>
                <a:avLst/>
                <a:gdLst/>
                <a:ahLst/>
                <a:cxnLst/>
                <a:rect r="r" b="b" t="t" l="l"/>
                <a:pathLst>
                  <a:path h="279400" w="279400">
                    <a:moveTo>
                      <a:pt x="0" y="0"/>
                    </a:moveTo>
                    <a:lnTo>
                      <a:pt x="279400" y="0"/>
                    </a:lnTo>
                    <a:lnTo>
                      <a:pt x="279400" y="279400"/>
                    </a:lnTo>
                    <a:lnTo>
                      <a:pt x="0" y="279400"/>
                    </a:lnTo>
                    <a:close/>
                  </a:path>
                </a:pathLst>
              </a:custGeom>
              <a:solidFill>
                <a:srgbClr val="55D6BE"/>
              </a:solidFill>
              <a:ln cap="sq">
                <a:noFill/>
                <a:prstDash val="solid"/>
                <a:miter/>
              </a:ln>
            </p:spPr>
          </p:sp>
          <p:sp>
            <p:nvSpPr>
              <p:cNvPr name="TextBox 15" id="15"/>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762000" y="28575"/>
              <a:ext cx="8382000" cy="422275"/>
            </a:xfrm>
            <a:prstGeom prst="rect">
              <a:avLst/>
            </a:prstGeom>
          </p:spPr>
          <p:txBody>
            <a:bodyPr anchor="t" rtlCol="false" tIns="0" lIns="0" bIns="0" rIns="0">
              <a:spAutoFit/>
            </a:bodyPr>
            <a:lstStyle/>
            <a:p>
              <a:pPr algn="l">
                <a:lnSpc>
                  <a:spcPts val="2362"/>
                </a:lnSpc>
              </a:pPr>
              <a:r>
                <a:rPr lang="en-US" sz="2250" b="true">
                  <a:solidFill>
                    <a:srgbClr val="102B3F"/>
                  </a:solidFill>
                  <a:latin typeface="Be Vietnam Ultra-Bold"/>
                  <a:ea typeface="Be Vietnam Ultra-Bold"/>
                  <a:cs typeface="Be Vietnam Ultra-Bold"/>
                  <a:sym typeface="Be Vietnam Ultra-Bold"/>
                </a:rPr>
                <a:t>02  Phân loại &amp; tồn kho</a:t>
              </a:r>
            </a:p>
          </p:txBody>
        </p:sp>
      </p:grpSp>
      <p:grpSp>
        <p:nvGrpSpPr>
          <p:cNvPr name="Group 17" id="17"/>
          <p:cNvGrpSpPr/>
          <p:nvPr/>
        </p:nvGrpSpPr>
        <p:grpSpPr>
          <a:xfrm rot="0">
            <a:off x="9620250" y="4810125"/>
            <a:ext cx="6858000" cy="338138"/>
            <a:chOff x="0" y="0"/>
            <a:chExt cx="9144000" cy="450850"/>
          </a:xfrm>
        </p:grpSpPr>
        <p:grpSp>
          <p:nvGrpSpPr>
            <p:cNvPr name="Group 18" id="18"/>
            <p:cNvGrpSpPr/>
            <p:nvPr/>
          </p:nvGrpSpPr>
          <p:grpSpPr>
            <a:xfrm rot="0">
              <a:off x="0" y="114300"/>
              <a:ext cx="279400" cy="279400"/>
              <a:chOff x="0" y="0"/>
              <a:chExt cx="279400" cy="279400"/>
            </a:xfrm>
          </p:grpSpPr>
          <p:sp>
            <p:nvSpPr>
              <p:cNvPr name="Freeform 19" id="19"/>
              <p:cNvSpPr/>
              <p:nvPr/>
            </p:nvSpPr>
            <p:spPr>
              <a:xfrm flipH="false" flipV="false" rot="0">
                <a:off x="0" y="0"/>
                <a:ext cx="279400" cy="279400"/>
              </a:xfrm>
              <a:custGeom>
                <a:avLst/>
                <a:gdLst/>
                <a:ahLst/>
                <a:cxnLst/>
                <a:rect r="r" b="b" t="t" l="l"/>
                <a:pathLst>
                  <a:path h="279400" w="279400">
                    <a:moveTo>
                      <a:pt x="0" y="0"/>
                    </a:moveTo>
                    <a:lnTo>
                      <a:pt x="279400" y="0"/>
                    </a:lnTo>
                    <a:lnTo>
                      <a:pt x="279400" y="279400"/>
                    </a:lnTo>
                    <a:lnTo>
                      <a:pt x="0" y="279400"/>
                    </a:lnTo>
                    <a:close/>
                  </a:path>
                </a:pathLst>
              </a:custGeom>
              <a:solidFill>
                <a:srgbClr val="55D6BE"/>
              </a:solidFill>
              <a:ln cap="sq">
                <a:noFill/>
                <a:prstDash val="solid"/>
                <a:miter/>
              </a:ln>
            </p:spPr>
          </p:sp>
          <p:sp>
            <p:nvSpPr>
              <p:cNvPr name="TextBox 20" id="20"/>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762000" y="28575"/>
              <a:ext cx="8382000" cy="422275"/>
            </a:xfrm>
            <a:prstGeom prst="rect">
              <a:avLst/>
            </a:prstGeom>
          </p:spPr>
          <p:txBody>
            <a:bodyPr anchor="t" rtlCol="false" tIns="0" lIns="0" bIns="0" rIns="0">
              <a:spAutoFit/>
            </a:bodyPr>
            <a:lstStyle/>
            <a:p>
              <a:pPr algn="l">
                <a:lnSpc>
                  <a:spcPts val="2362"/>
                </a:lnSpc>
              </a:pPr>
              <a:r>
                <a:rPr lang="en-US" sz="2250" b="true">
                  <a:solidFill>
                    <a:srgbClr val="102B3F"/>
                  </a:solidFill>
                  <a:latin typeface="Be Vietnam Ultra-Bold"/>
                  <a:ea typeface="Be Vietnam Ultra-Bold"/>
                  <a:cs typeface="Be Vietnam Ultra-Bold"/>
                  <a:sym typeface="Be Vietnam Ultra-Bold"/>
                </a:rPr>
                <a:t>03  Ngày SX • Hạn lưu kho</a:t>
              </a:r>
            </a:p>
          </p:txBody>
        </p:sp>
      </p:grpSp>
      <p:grpSp>
        <p:nvGrpSpPr>
          <p:cNvPr name="Group 22" id="22"/>
          <p:cNvGrpSpPr/>
          <p:nvPr/>
        </p:nvGrpSpPr>
        <p:grpSpPr>
          <a:xfrm rot="0">
            <a:off x="9620250" y="5810250"/>
            <a:ext cx="6858000" cy="338138"/>
            <a:chOff x="0" y="0"/>
            <a:chExt cx="9144000" cy="450850"/>
          </a:xfrm>
        </p:grpSpPr>
        <p:grpSp>
          <p:nvGrpSpPr>
            <p:cNvPr name="Group 23" id="23"/>
            <p:cNvGrpSpPr/>
            <p:nvPr/>
          </p:nvGrpSpPr>
          <p:grpSpPr>
            <a:xfrm rot="0">
              <a:off x="0" y="114300"/>
              <a:ext cx="279400" cy="279400"/>
              <a:chOff x="0" y="0"/>
              <a:chExt cx="279400" cy="279400"/>
            </a:xfrm>
          </p:grpSpPr>
          <p:sp>
            <p:nvSpPr>
              <p:cNvPr name="Freeform 24" id="24"/>
              <p:cNvSpPr/>
              <p:nvPr/>
            </p:nvSpPr>
            <p:spPr>
              <a:xfrm flipH="false" flipV="false" rot="0">
                <a:off x="0" y="0"/>
                <a:ext cx="279400" cy="279400"/>
              </a:xfrm>
              <a:custGeom>
                <a:avLst/>
                <a:gdLst/>
                <a:ahLst/>
                <a:cxnLst/>
                <a:rect r="r" b="b" t="t" l="l"/>
                <a:pathLst>
                  <a:path h="279400" w="279400">
                    <a:moveTo>
                      <a:pt x="0" y="0"/>
                    </a:moveTo>
                    <a:lnTo>
                      <a:pt x="279400" y="0"/>
                    </a:lnTo>
                    <a:lnTo>
                      <a:pt x="279400" y="279400"/>
                    </a:lnTo>
                    <a:lnTo>
                      <a:pt x="0" y="279400"/>
                    </a:lnTo>
                    <a:close/>
                  </a:path>
                </a:pathLst>
              </a:custGeom>
              <a:solidFill>
                <a:srgbClr val="55D6BE"/>
              </a:solidFill>
              <a:ln cap="sq">
                <a:noFill/>
                <a:prstDash val="solid"/>
                <a:miter/>
              </a:ln>
            </p:spPr>
          </p:sp>
          <p:sp>
            <p:nvSpPr>
              <p:cNvPr name="TextBox 25" id="25"/>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762000" y="28575"/>
              <a:ext cx="8382000" cy="422275"/>
            </a:xfrm>
            <a:prstGeom prst="rect">
              <a:avLst/>
            </a:prstGeom>
          </p:spPr>
          <p:txBody>
            <a:bodyPr anchor="t" rtlCol="false" tIns="0" lIns="0" bIns="0" rIns="0">
              <a:spAutoFit/>
            </a:bodyPr>
            <a:lstStyle/>
            <a:p>
              <a:pPr algn="l">
                <a:lnSpc>
                  <a:spcPts val="2362"/>
                </a:lnSpc>
              </a:pPr>
              <a:r>
                <a:rPr lang="en-US" sz="2250" b="true">
                  <a:solidFill>
                    <a:srgbClr val="102B3F"/>
                  </a:solidFill>
                  <a:latin typeface="Be Vietnam Ultra-Bold"/>
                  <a:ea typeface="Be Vietnam Ultra-Bold"/>
                  <a:cs typeface="Be Vietnam Ultra-Bold"/>
                  <a:sym typeface="Be Vietnam Ultra-Bold"/>
                </a:rPr>
                <a:t>04  Tăng / giảm số lượng</a:t>
              </a:r>
            </a:p>
          </p:txBody>
        </p:sp>
      </p:grpSp>
      <p:grpSp>
        <p:nvGrpSpPr>
          <p:cNvPr name="Group 27" id="27"/>
          <p:cNvGrpSpPr/>
          <p:nvPr/>
        </p:nvGrpSpPr>
        <p:grpSpPr>
          <a:xfrm rot="0">
            <a:off x="9620250" y="6810375"/>
            <a:ext cx="6858000" cy="338138"/>
            <a:chOff x="0" y="0"/>
            <a:chExt cx="9144000" cy="450850"/>
          </a:xfrm>
        </p:grpSpPr>
        <p:grpSp>
          <p:nvGrpSpPr>
            <p:cNvPr name="Group 28" id="28"/>
            <p:cNvGrpSpPr/>
            <p:nvPr/>
          </p:nvGrpSpPr>
          <p:grpSpPr>
            <a:xfrm rot="0">
              <a:off x="0" y="114300"/>
              <a:ext cx="279400" cy="279400"/>
              <a:chOff x="0" y="0"/>
              <a:chExt cx="279400" cy="279400"/>
            </a:xfrm>
          </p:grpSpPr>
          <p:sp>
            <p:nvSpPr>
              <p:cNvPr name="Freeform 29" id="29"/>
              <p:cNvSpPr/>
              <p:nvPr/>
            </p:nvSpPr>
            <p:spPr>
              <a:xfrm flipH="false" flipV="false" rot="0">
                <a:off x="0" y="0"/>
                <a:ext cx="279400" cy="279400"/>
              </a:xfrm>
              <a:custGeom>
                <a:avLst/>
                <a:gdLst/>
                <a:ahLst/>
                <a:cxnLst/>
                <a:rect r="r" b="b" t="t" l="l"/>
                <a:pathLst>
                  <a:path h="279400" w="279400">
                    <a:moveTo>
                      <a:pt x="0" y="0"/>
                    </a:moveTo>
                    <a:lnTo>
                      <a:pt x="279400" y="0"/>
                    </a:lnTo>
                    <a:lnTo>
                      <a:pt x="279400" y="279400"/>
                    </a:lnTo>
                    <a:lnTo>
                      <a:pt x="0" y="279400"/>
                    </a:lnTo>
                    <a:close/>
                  </a:path>
                </a:pathLst>
              </a:custGeom>
              <a:solidFill>
                <a:srgbClr val="FF6B5B"/>
              </a:solidFill>
              <a:ln cap="sq">
                <a:noFill/>
                <a:prstDash val="solid"/>
                <a:miter/>
              </a:ln>
            </p:spPr>
          </p:sp>
          <p:sp>
            <p:nvSpPr>
              <p:cNvPr name="TextBox 30" id="30"/>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762000" y="28575"/>
              <a:ext cx="8382000" cy="422275"/>
            </a:xfrm>
            <a:prstGeom prst="rect">
              <a:avLst/>
            </a:prstGeom>
          </p:spPr>
          <p:txBody>
            <a:bodyPr anchor="t" rtlCol="false" tIns="0" lIns="0" bIns="0" rIns="0">
              <a:spAutoFit/>
            </a:bodyPr>
            <a:lstStyle/>
            <a:p>
              <a:pPr algn="l">
                <a:lnSpc>
                  <a:spcPts val="2362"/>
                </a:lnSpc>
              </a:pPr>
              <a:r>
                <a:rPr lang="en-US" sz="2250" b="true">
                  <a:solidFill>
                    <a:srgbClr val="FF6B5B"/>
                  </a:solidFill>
                  <a:latin typeface="Be Vietnam Ultra-Bold"/>
                  <a:ea typeface="Be Vietnam Ultra-Bold"/>
                  <a:cs typeface="Be Vietnam Ultra-Bold"/>
                  <a:sym typeface="Be Vietnam Ultra-Bold"/>
                </a:rPr>
                <a:t>05  Thêm giỏ • Mua ngay</a:t>
              </a:r>
            </a:p>
          </p:txBody>
        </p:sp>
      </p:grpSp>
      <p:grpSp>
        <p:nvGrpSpPr>
          <p:cNvPr name="Group 32" id="32"/>
          <p:cNvGrpSpPr/>
          <p:nvPr/>
        </p:nvGrpSpPr>
        <p:grpSpPr>
          <a:xfrm rot="0">
            <a:off x="990600" y="9696450"/>
            <a:ext cx="16249650" cy="228600"/>
            <a:chOff x="0" y="0"/>
            <a:chExt cx="21666200" cy="304800"/>
          </a:xfrm>
        </p:grpSpPr>
        <p:sp>
          <p:nvSpPr>
            <p:cNvPr name="TextBox 33" id="33"/>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34" id="34"/>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09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09 — QUẢN TRỊ SẢN PHẨM</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102B3F"/>
                  </a:solidFill>
                  <a:latin typeface="Be Vietnam Ultra-Bold"/>
                  <a:ea typeface="Be Vietnam Ultra-Bold"/>
                  <a:cs typeface="Be Vietnam Ultra-Bold"/>
                  <a:sym typeface="Be Vietnam Ultra-Bold"/>
                </a:rPr>
                <a:t>Một luồng quản trị, hai trạng thái sản phẩm</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sp>
        <p:nvSpPr>
          <p:cNvPr name="Freeform 6" id="6"/>
          <p:cNvSpPr/>
          <p:nvPr/>
        </p:nvSpPr>
        <p:spPr>
          <a:xfrm flipH="false" flipV="false" rot="0">
            <a:off x="7239000" y="2238375"/>
            <a:ext cx="9906000" cy="6667500"/>
          </a:xfrm>
          <a:custGeom>
            <a:avLst/>
            <a:gdLst/>
            <a:ahLst/>
            <a:cxnLst/>
            <a:rect r="r" b="b" t="t" l="l"/>
            <a:pathLst>
              <a:path h="6667500" w="9906000">
                <a:moveTo>
                  <a:pt x="0" y="0"/>
                </a:moveTo>
                <a:lnTo>
                  <a:pt x="9906000" y="0"/>
                </a:lnTo>
                <a:lnTo>
                  <a:pt x="9906000" y="6667500"/>
                </a:lnTo>
                <a:lnTo>
                  <a:pt x="0" y="6667500"/>
                </a:lnTo>
                <a:lnTo>
                  <a:pt x="0" y="0"/>
                </a:lnTo>
                <a:close/>
              </a:path>
            </a:pathLst>
          </a:custGeom>
          <a:blipFill>
            <a:blip r:embed="rId2"/>
            <a:stretch>
              <a:fillRect l="-9829" t="0" r="-9829" b="0"/>
            </a:stretch>
          </a:blipFill>
          <a:ln cap="sq">
            <a:noFill/>
            <a:prstDash val="solid"/>
            <a:miter/>
          </a:ln>
        </p:spPr>
      </p:sp>
      <p:sp>
        <p:nvSpPr>
          <p:cNvPr name="TextBox 7" id="7"/>
          <p:cNvSpPr txBox="true"/>
          <p:nvPr/>
        </p:nvSpPr>
        <p:spPr>
          <a:xfrm rot="0">
            <a:off x="1000125" y="2733675"/>
            <a:ext cx="4953000" cy="297180"/>
          </a:xfrm>
          <a:prstGeom prst="rect">
            <a:avLst/>
          </a:prstGeom>
        </p:spPr>
        <p:txBody>
          <a:bodyPr anchor="t" rtlCol="false" tIns="0" lIns="0" bIns="0" rIns="0">
            <a:spAutoFit/>
          </a:bodyPr>
          <a:lstStyle/>
          <a:p>
            <a:pPr algn="l">
              <a:lnSpc>
                <a:spcPts val="2520"/>
              </a:lnSpc>
            </a:pPr>
            <a:r>
              <a:rPr lang="en-US" sz="1800" spc="215" b="true">
                <a:solidFill>
                  <a:srgbClr val="168AAD"/>
                </a:solidFill>
                <a:latin typeface="Noto Sans Bold"/>
                <a:ea typeface="Noto Sans Bold"/>
                <a:cs typeface="Noto Sans Bold"/>
                <a:sym typeface="Noto Sans Bold"/>
              </a:rPr>
              <a:t>THÊM MỚI</a:t>
            </a:r>
          </a:p>
        </p:txBody>
      </p:sp>
      <p:sp>
        <p:nvSpPr>
          <p:cNvPr name="TextBox 8" id="8"/>
          <p:cNvSpPr txBox="true"/>
          <p:nvPr/>
        </p:nvSpPr>
        <p:spPr>
          <a:xfrm rot="0">
            <a:off x="1000125" y="3324225"/>
            <a:ext cx="5143500" cy="1100614"/>
          </a:xfrm>
          <a:prstGeom prst="rect">
            <a:avLst/>
          </a:prstGeom>
        </p:spPr>
        <p:txBody>
          <a:bodyPr anchor="t" rtlCol="false" tIns="0" lIns="0" bIns="0" rIns="0">
            <a:spAutoFit/>
          </a:bodyPr>
          <a:lstStyle/>
          <a:p>
            <a:pPr algn="l">
              <a:lnSpc>
                <a:spcPts val="2913"/>
              </a:lnSpc>
            </a:pPr>
            <a:r>
              <a:rPr lang="en-US" sz="2775" b="true">
                <a:solidFill>
                  <a:srgbClr val="102B3F"/>
                </a:solidFill>
                <a:latin typeface="Be Vietnam Ultra-Bold"/>
                <a:ea typeface="Be Vietnam Ultra-Bold"/>
                <a:cs typeface="Be Vietnam Ultra-Bold"/>
                <a:sym typeface="Be Vietnam Ultra-Bold"/>
              </a:rPr>
              <a:t>Tối đa 5 ảnh</a:t>
            </a:r>
          </a:p>
          <a:p>
            <a:pPr algn="l">
              <a:lnSpc>
                <a:spcPts val="2913"/>
              </a:lnSpc>
            </a:pPr>
            <a:r>
              <a:rPr lang="en-US" sz="2775" b="true">
                <a:solidFill>
                  <a:srgbClr val="102B3F"/>
                </a:solidFill>
                <a:latin typeface="Be Vietnam Ultra-Bold"/>
                <a:ea typeface="Be Vietnam Ultra-Bold"/>
                <a:cs typeface="Be Vietnam Ultra-Bold"/>
                <a:sym typeface="Be Vietnam Ultra-Bold"/>
              </a:rPr>
              <a:t>Tự sinh SPxxxx</a:t>
            </a:r>
          </a:p>
          <a:p>
            <a:pPr algn="l">
              <a:lnSpc>
                <a:spcPts val="2913"/>
              </a:lnSpc>
            </a:pPr>
            <a:r>
              <a:rPr lang="en-US" sz="2775" b="true">
                <a:solidFill>
                  <a:srgbClr val="102B3F"/>
                </a:solidFill>
                <a:latin typeface="Be Vietnam Ultra-Bold"/>
                <a:ea typeface="Be Vietnam Ultra-Bold"/>
                <a:cs typeface="Be Vietnam Ultra-Bold"/>
                <a:sym typeface="Be Vietnam Ultra-Bold"/>
              </a:rPr>
              <a:t>Giá • ĐVT • Tồn đầu</a:t>
            </a:r>
          </a:p>
        </p:txBody>
      </p:sp>
      <p:sp>
        <p:nvSpPr>
          <p:cNvPr name="TextBox 9" id="9"/>
          <p:cNvSpPr txBox="true"/>
          <p:nvPr/>
        </p:nvSpPr>
        <p:spPr>
          <a:xfrm rot="0">
            <a:off x="1000125" y="6400800"/>
            <a:ext cx="4953000" cy="297180"/>
          </a:xfrm>
          <a:prstGeom prst="rect">
            <a:avLst/>
          </a:prstGeom>
        </p:spPr>
        <p:txBody>
          <a:bodyPr anchor="t" rtlCol="false" tIns="0" lIns="0" bIns="0" rIns="0">
            <a:spAutoFit/>
          </a:bodyPr>
          <a:lstStyle/>
          <a:p>
            <a:pPr algn="l">
              <a:lnSpc>
                <a:spcPts val="2520"/>
              </a:lnSpc>
            </a:pPr>
            <a:r>
              <a:rPr lang="en-US" sz="1800" spc="215" b="true">
                <a:solidFill>
                  <a:srgbClr val="FF6B5B"/>
                </a:solidFill>
                <a:latin typeface="Noto Sans Bold"/>
                <a:ea typeface="Noto Sans Bold"/>
                <a:cs typeface="Noto Sans Bold"/>
                <a:sym typeface="Noto Sans Bold"/>
              </a:rPr>
              <a:t>CHỈNH SỬA</a:t>
            </a:r>
          </a:p>
        </p:txBody>
      </p:sp>
      <p:sp>
        <p:nvSpPr>
          <p:cNvPr name="TextBox 10" id="10"/>
          <p:cNvSpPr txBox="true"/>
          <p:nvPr/>
        </p:nvSpPr>
        <p:spPr>
          <a:xfrm rot="0">
            <a:off x="1000125" y="6924675"/>
            <a:ext cx="5143500" cy="730091"/>
          </a:xfrm>
          <a:prstGeom prst="rect">
            <a:avLst/>
          </a:prstGeom>
        </p:spPr>
        <p:txBody>
          <a:bodyPr anchor="t" rtlCol="false" tIns="0" lIns="0" bIns="0" rIns="0">
            <a:spAutoFit/>
          </a:bodyPr>
          <a:lstStyle/>
          <a:p>
            <a:pPr algn="l">
              <a:lnSpc>
                <a:spcPts val="2936"/>
              </a:lnSpc>
            </a:pPr>
            <a:r>
              <a:rPr lang="en-US" sz="2175">
                <a:solidFill>
                  <a:srgbClr val="102B3F"/>
                </a:solidFill>
                <a:latin typeface="Noto Sans"/>
                <a:ea typeface="Noto Sans"/>
                <a:cs typeface="Noto Sans"/>
                <a:sym typeface="Noto Sans"/>
              </a:rPr>
              <a:t>Khóa mã • Quản lý ảnh cũ/mới • Kiểm tra đơn trước khi xóa</a:t>
            </a:r>
          </a:p>
        </p:txBody>
      </p:sp>
      <p:grpSp>
        <p:nvGrpSpPr>
          <p:cNvPr name="Group 11" id="11"/>
          <p:cNvGrpSpPr/>
          <p:nvPr/>
        </p:nvGrpSpPr>
        <p:grpSpPr>
          <a:xfrm rot="0">
            <a:off x="990600" y="9696450"/>
            <a:ext cx="16249650" cy="228600"/>
            <a:chOff x="0" y="0"/>
            <a:chExt cx="21666200" cy="304800"/>
          </a:xfrm>
        </p:grpSpPr>
        <p:sp>
          <p:nvSpPr>
            <p:cNvPr name="TextBox 12" id="12"/>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13" id="13"/>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71A2B"/>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55D6BE"/>
                  </a:solidFill>
                  <a:latin typeface="Noto Sans Bold"/>
                  <a:ea typeface="Noto Sans Bold"/>
                  <a:cs typeface="Noto Sans Bold"/>
                  <a:sym typeface="Noto Sans Bold"/>
                </a:rPr>
                <a:t>10 — GIỎ HÀNG &amp; THANH TOÁN</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FFFFFF"/>
                  </a:solidFill>
                  <a:latin typeface="Be Vietnam Ultra-Bold"/>
                  <a:ea typeface="Be Vietnam Ultra-Bold"/>
                  <a:cs typeface="Be Vietnam Ultra-Bold"/>
                  <a:sym typeface="Be Vietnam Ultra-Bold"/>
                </a:rPr>
                <a:t>Giỏ hàng chính xác, thanh toán không ma sát</a:t>
              </a:r>
            </a:p>
          </p:txBody>
        </p:sp>
        <p:sp>
          <p:nvSpPr>
            <p:cNvPr name="AutoShape 5" id="5"/>
            <p:cNvSpPr/>
            <p:nvPr/>
          </p:nvSpPr>
          <p:spPr>
            <a:xfrm>
              <a:off x="0" y="1600200"/>
              <a:ext cx="21742400" cy="0"/>
            </a:xfrm>
            <a:prstGeom prst="line">
              <a:avLst/>
            </a:prstGeom>
            <a:ln cap="flat" w="25400">
              <a:solidFill>
                <a:srgbClr val="55D6BE"/>
              </a:solidFill>
              <a:prstDash val="solid"/>
              <a:headEnd type="none" len="sm" w="sm"/>
              <a:tailEnd type="none" len="sm" w="sm"/>
            </a:ln>
          </p:spPr>
        </p:sp>
      </p:grpSp>
      <p:sp>
        <p:nvSpPr>
          <p:cNvPr name="Freeform 6" id="6"/>
          <p:cNvSpPr/>
          <p:nvPr/>
        </p:nvSpPr>
        <p:spPr>
          <a:xfrm flipH="false" flipV="false" rot="0">
            <a:off x="8096250" y="2047875"/>
            <a:ext cx="9239250" cy="7239000"/>
          </a:xfrm>
          <a:custGeom>
            <a:avLst/>
            <a:gdLst/>
            <a:ahLst/>
            <a:cxnLst/>
            <a:rect r="r" b="b" t="t" l="l"/>
            <a:pathLst>
              <a:path h="7239000" w="9239250">
                <a:moveTo>
                  <a:pt x="0" y="0"/>
                </a:moveTo>
                <a:lnTo>
                  <a:pt x="9239250" y="0"/>
                </a:lnTo>
                <a:lnTo>
                  <a:pt x="9239250" y="7239000"/>
                </a:lnTo>
                <a:lnTo>
                  <a:pt x="0" y="7239000"/>
                </a:lnTo>
                <a:lnTo>
                  <a:pt x="0" y="0"/>
                </a:lnTo>
                <a:close/>
              </a:path>
            </a:pathLst>
          </a:custGeom>
          <a:blipFill>
            <a:blip r:embed="rId2"/>
            <a:stretch>
              <a:fillRect l="-19644" t="0" r="-19644" b="0"/>
            </a:stretch>
          </a:blipFill>
          <a:ln cap="sq">
            <a:noFill/>
            <a:prstDash val="solid"/>
            <a:miter/>
          </a:ln>
        </p:spPr>
      </p:sp>
      <p:sp>
        <p:nvSpPr>
          <p:cNvPr name="TextBox 7" id="7"/>
          <p:cNvSpPr txBox="true"/>
          <p:nvPr/>
        </p:nvSpPr>
        <p:spPr>
          <a:xfrm rot="0">
            <a:off x="1000125" y="2933700"/>
            <a:ext cx="6191250" cy="1455420"/>
          </a:xfrm>
          <a:prstGeom prst="rect">
            <a:avLst/>
          </a:prstGeom>
        </p:spPr>
        <p:txBody>
          <a:bodyPr anchor="t" rtlCol="false" tIns="0" lIns="0" bIns="0" rIns="0">
            <a:spAutoFit/>
          </a:bodyPr>
          <a:lstStyle/>
          <a:p>
            <a:pPr algn="l">
              <a:lnSpc>
                <a:spcPts val="5670"/>
              </a:lnSpc>
            </a:pPr>
            <a:r>
              <a:rPr lang="en-US" sz="5400" b="true">
                <a:solidFill>
                  <a:srgbClr val="FFFFFF"/>
                </a:solidFill>
                <a:latin typeface="Be Vietnam Ultra-Bold"/>
                <a:ea typeface="Be Vietnam Ultra-Bold"/>
                <a:cs typeface="Be Vietnam Ultra-Bold"/>
                <a:sym typeface="Be Vietnam Ultra-Bold"/>
              </a:rPr>
              <a:t>CARTMANAGER</a:t>
            </a:r>
          </a:p>
          <a:p>
            <a:pPr algn="l">
              <a:lnSpc>
                <a:spcPts val="5670"/>
              </a:lnSpc>
            </a:pPr>
            <a:r>
              <a:rPr lang="en-US" sz="5400" b="true">
                <a:solidFill>
                  <a:srgbClr val="FFFFFF"/>
                </a:solidFill>
                <a:latin typeface="Be Vietnam Ultra-Bold"/>
                <a:ea typeface="Be Vietnam Ultra-Bold"/>
                <a:cs typeface="Be Vietnam Ultra-Bold"/>
                <a:sym typeface="Be Vietnam Ultra-Bold"/>
              </a:rPr>
              <a:t>→ API</a:t>
            </a:r>
          </a:p>
        </p:txBody>
      </p:sp>
      <p:sp>
        <p:nvSpPr>
          <p:cNvPr name="TextBox 8" id="8"/>
          <p:cNvSpPr txBox="true"/>
          <p:nvPr/>
        </p:nvSpPr>
        <p:spPr>
          <a:xfrm rot="0">
            <a:off x="1000125" y="5114925"/>
            <a:ext cx="5905500" cy="1398270"/>
          </a:xfrm>
          <a:prstGeom prst="rect">
            <a:avLst/>
          </a:prstGeom>
        </p:spPr>
        <p:txBody>
          <a:bodyPr anchor="t" rtlCol="false" tIns="0" lIns="0" bIns="0" rIns="0">
            <a:spAutoFit/>
          </a:bodyPr>
          <a:lstStyle/>
          <a:p>
            <a:pPr algn="l">
              <a:lnSpc>
                <a:spcPts val="2835"/>
              </a:lnSpc>
            </a:pPr>
            <a:r>
              <a:rPr lang="en-US" sz="2100">
                <a:solidFill>
                  <a:srgbClr val="C9D8DF"/>
                </a:solidFill>
                <a:latin typeface="Noto Sans"/>
                <a:ea typeface="Noto Sans"/>
                <a:cs typeface="Noto Sans"/>
                <a:sym typeface="Noto Sans"/>
              </a:rPr>
              <a:t>Cập nhật số lượng và tổng tiền theo thời gian thực. Kiểm tra địa chỉ, hỗ trợ COD hoặc chuyển khoản QR; tự tính tiền hàng, miễn phí vận chuyển và tạo đơn qua API.</a:t>
            </a:r>
          </a:p>
        </p:txBody>
      </p:sp>
      <p:sp>
        <p:nvSpPr>
          <p:cNvPr name="TextBox 9" id="9"/>
          <p:cNvSpPr txBox="true"/>
          <p:nvPr/>
        </p:nvSpPr>
        <p:spPr>
          <a:xfrm rot="0">
            <a:off x="1000125" y="7781925"/>
            <a:ext cx="6191250" cy="257175"/>
          </a:xfrm>
          <a:prstGeom prst="rect">
            <a:avLst/>
          </a:prstGeom>
        </p:spPr>
        <p:txBody>
          <a:bodyPr anchor="t" rtlCol="false" tIns="0" lIns="0" bIns="0" rIns="0">
            <a:spAutoFit/>
          </a:bodyPr>
          <a:lstStyle/>
          <a:p>
            <a:pPr algn="l">
              <a:lnSpc>
                <a:spcPts val="2100"/>
              </a:lnSpc>
            </a:pPr>
            <a:r>
              <a:rPr lang="en-US" sz="1500" spc="179" b="true">
                <a:solidFill>
                  <a:srgbClr val="55D6BE"/>
                </a:solidFill>
                <a:latin typeface="Noto Sans Bold"/>
                <a:ea typeface="Noto Sans Bold"/>
                <a:cs typeface="Noto Sans Bold"/>
                <a:sym typeface="Noto Sans Bold"/>
              </a:rPr>
              <a:t>COD  /  QR  /  REALTIME TOTAL</a:t>
            </a:r>
          </a:p>
        </p:txBody>
      </p:sp>
      <p:grpSp>
        <p:nvGrpSpPr>
          <p:cNvPr name="Group 10" id="10"/>
          <p:cNvGrpSpPr/>
          <p:nvPr/>
        </p:nvGrpSpPr>
        <p:grpSpPr>
          <a:xfrm rot="0">
            <a:off x="990600" y="9696450"/>
            <a:ext cx="16249650" cy="228600"/>
            <a:chOff x="0" y="0"/>
            <a:chExt cx="21666200" cy="304800"/>
          </a:xfrm>
        </p:grpSpPr>
        <p:sp>
          <p:nvSpPr>
            <p:cNvPr name="TextBox 11" id="11"/>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55D6BE"/>
                  </a:solidFill>
                  <a:latin typeface="Noto Sans Bold"/>
                  <a:ea typeface="Noto Sans Bold"/>
                  <a:cs typeface="Noto Sans Bold"/>
                  <a:sym typeface="Noto Sans Bold"/>
                </a:rPr>
                <a:t>BOOKFLOW  •  ĐỒ ÁN ỨNG DỤNG DI ĐỘNG</a:t>
              </a:r>
            </a:p>
          </p:txBody>
        </p:sp>
        <p:sp>
          <p:nvSpPr>
            <p:cNvPr name="TextBox 12" id="12"/>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FFFFFF"/>
                  </a:solidFill>
                  <a:latin typeface="Noto Sans Bold"/>
                  <a:ea typeface="Noto Sans Bold"/>
                  <a:cs typeface="Noto Sans Bold"/>
                  <a:sym typeface="Noto Sans Bold"/>
                </a:rPr>
                <a:t>11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11 — QUẢN LÝ &amp; THEO DÕI ĐƠN HÀNG</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102B3F"/>
                  </a:solidFill>
                  <a:latin typeface="Be Vietnam Ultra-Bold"/>
                  <a:ea typeface="Be Vietnam Ultra-Bold"/>
                  <a:cs typeface="Be Vietnam Ultra-Bold"/>
                  <a:sym typeface="Be Vietnam Ultra-Bold"/>
                </a:rPr>
                <a:t>Một dòng thời gian cho toàn bộ vòng đời đơn</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sp>
        <p:nvSpPr>
          <p:cNvPr name="Freeform 6" id="6"/>
          <p:cNvSpPr/>
          <p:nvPr/>
        </p:nvSpPr>
        <p:spPr>
          <a:xfrm flipH="false" flipV="false" rot="0">
            <a:off x="9906000" y="2095500"/>
            <a:ext cx="7239000" cy="7048500"/>
          </a:xfrm>
          <a:custGeom>
            <a:avLst/>
            <a:gdLst/>
            <a:ahLst/>
            <a:cxnLst/>
            <a:rect r="r" b="b" t="t" l="l"/>
            <a:pathLst>
              <a:path h="7048500" w="7239000">
                <a:moveTo>
                  <a:pt x="0" y="0"/>
                </a:moveTo>
                <a:lnTo>
                  <a:pt x="7239000" y="0"/>
                </a:lnTo>
                <a:lnTo>
                  <a:pt x="7239000" y="7048500"/>
                </a:lnTo>
                <a:lnTo>
                  <a:pt x="0" y="7048500"/>
                </a:lnTo>
                <a:lnTo>
                  <a:pt x="0" y="0"/>
                </a:lnTo>
                <a:close/>
              </a:path>
            </a:pathLst>
          </a:custGeom>
          <a:blipFill>
            <a:blip r:embed="rId2"/>
            <a:stretch>
              <a:fillRect l="-36549" t="0" r="-36549" b="0"/>
            </a:stretch>
          </a:blipFill>
          <a:ln cap="sq">
            <a:noFill/>
            <a:prstDash val="solid"/>
            <a:miter/>
          </a:ln>
        </p:spPr>
      </p:sp>
      <p:grpSp>
        <p:nvGrpSpPr>
          <p:cNvPr name="Group 7" id="7"/>
          <p:cNvGrpSpPr/>
          <p:nvPr/>
        </p:nvGrpSpPr>
        <p:grpSpPr>
          <a:xfrm rot="0">
            <a:off x="1143000" y="2857500"/>
            <a:ext cx="6667500" cy="895350"/>
            <a:chOff x="0" y="0"/>
            <a:chExt cx="8890000" cy="1193800"/>
          </a:xfrm>
        </p:grpSpPr>
        <p:sp>
          <p:nvSpPr>
            <p:cNvPr name="Freeform 8" id="8"/>
            <p:cNvSpPr/>
            <p:nvPr/>
          </p:nvSpPr>
          <p:spPr>
            <a:xfrm flipH="false" flipV="false" rot="0">
              <a:off x="0" y="0"/>
              <a:ext cx="8890000" cy="1193800"/>
            </a:xfrm>
            <a:custGeom>
              <a:avLst/>
              <a:gdLst/>
              <a:ahLst/>
              <a:cxnLst/>
              <a:rect r="r" b="b" t="t" l="l"/>
              <a:pathLst>
                <a:path h="1193800" w="8890000">
                  <a:moveTo>
                    <a:pt x="32657" y="0"/>
                  </a:moveTo>
                  <a:lnTo>
                    <a:pt x="8857343" y="0"/>
                  </a:lnTo>
                  <a:cubicBezTo>
                    <a:pt x="8866004" y="0"/>
                    <a:pt x="8874310" y="3441"/>
                    <a:pt x="8880435" y="9565"/>
                  </a:cubicBezTo>
                  <a:cubicBezTo>
                    <a:pt x="8886559" y="15689"/>
                    <a:pt x="8890000" y="23996"/>
                    <a:pt x="8890000" y="32657"/>
                  </a:cubicBezTo>
                  <a:lnTo>
                    <a:pt x="8890000" y="1161143"/>
                  </a:lnTo>
                  <a:cubicBezTo>
                    <a:pt x="8890000" y="1169804"/>
                    <a:pt x="8886559" y="1178111"/>
                    <a:pt x="8880435" y="1184235"/>
                  </a:cubicBezTo>
                  <a:cubicBezTo>
                    <a:pt x="8874310" y="1190359"/>
                    <a:pt x="8866004" y="1193800"/>
                    <a:pt x="8857343" y="1193800"/>
                  </a:cubicBezTo>
                  <a:lnTo>
                    <a:pt x="32657" y="1193800"/>
                  </a:lnTo>
                  <a:cubicBezTo>
                    <a:pt x="23996" y="1193800"/>
                    <a:pt x="15689" y="1190359"/>
                    <a:pt x="9565" y="1184235"/>
                  </a:cubicBezTo>
                  <a:cubicBezTo>
                    <a:pt x="3441" y="1178111"/>
                    <a:pt x="0" y="1169804"/>
                    <a:pt x="0" y="1161143"/>
                  </a:cubicBezTo>
                  <a:lnTo>
                    <a:pt x="0" y="32657"/>
                  </a:lnTo>
                  <a:cubicBezTo>
                    <a:pt x="0" y="23996"/>
                    <a:pt x="3441" y="15689"/>
                    <a:pt x="9565" y="9565"/>
                  </a:cubicBezTo>
                  <a:cubicBezTo>
                    <a:pt x="15689" y="3441"/>
                    <a:pt x="23996" y="0"/>
                    <a:pt x="32657" y="0"/>
                  </a:cubicBezTo>
                  <a:close/>
                </a:path>
              </a:pathLst>
            </a:custGeom>
            <a:solidFill>
              <a:srgbClr val="FFFFFF"/>
            </a:solidFill>
            <a:ln cap="sq">
              <a:noFill/>
              <a:prstDash val="solid"/>
              <a:miter/>
            </a:ln>
          </p:spPr>
        </p:sp>
        <p:sp>
          <p:nvSpPr>
            <p:cNvPr name="TextBox 9" id="9"/>
            <p:cNvSpPr txBox="true"/>
            <p:nvPr/>
          </p:nvSpPr>
          <p:spPr>
            <a:xfrm>
              <a:off x="0" y="9525"/>
              <a:ext cx="8890000" cy="11842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ĐÃ HỦY</a:t>
              </a:r>
            </a:p>
          </p:txBody>
        </p:sp>
      </p:grpSp>
      <p:sp>
        <p:nvSpPr>
          <p:cNvPr name="AutoShape 10" id="10"/>
          <p:cNvSpPr/>
          <p:nvPr/>
        </p:nvSpPr>
        <p:spPr>
          <a:xfrm>
            <a:off x="4476750" y="3752850"/>
            <a:ext cx="0" cy="342900"/>
          </a:xfrm>
          <a:prstGeom prst="line">
            <a:avLst/>
          </a:prstGeom>
          <a:ln cap="flat" w="28575">
            <a:solidFill>
              <a:srgbClr val="168AAD"/>
            </a:solidFill>
            <a:prstDash val="solid"/>
            <a:headEnd type="none" len="sm" w="sm"/>
            <a:tailEnd type="none" len="sm" w="sm"/>
          </a:ln>
        </p:spPr>
      </p:sp>
      <p:grpSp>
        <p:nvGrpSpPr>
          <p:cNvPr name="Group 11" id="11"/>
          <p:cNvGrpSpPr/>
          <p:nvPr/>
        </p:nvGrpSpPr>
        <p:grpSpPr>
          <a:xfrm rot="0">
            <a:off x="1143000" y="4191000"/>
            <a:ext cx="6667500" cy="895350"/>
            <a:chOff x="0" y="0"/>
            <a:chExt cx="8890000" cy="1193800"/>
          </a:xfrm>
        </p:grpSpPr>
        <p:sp>
          <p:nvSpPr>
            <p:cNvPr name="Freeform 12" id="12"/>
            <p:cNvSpPr/>
            <p:nvPr/>
          </p:nvSpPr>
          <p:spPr>
            <a:xfrm flipH="false" flipV="false" rot="0">
              <a:off x="0" y="0"/>
              <a:ext cx="8890000" cy="1193800"/>
            </a:xfrm>
            <a:custGeom>
              <a:avLst/>
              <a:gdLst/>
              <a:ahLst/>
              <a:cxnLst/>
              <a:rect r="r" b="b" t="t" l="l"/>
              <a:pathLst>
                <a:path h="1193800" w="8890000">
                  <a:moveTo>
                    <a:pt x="32657" y="0"/>
                  </a:moveTo>
                  <a:lnTo>
                    <a:pt x="8857343" y="0"/>
                  </a:lnTo>
                  <a:cubicBezTo>
                    <a:pt x="8866004" y="0"/>
                    <a:pt x="8874310" y="3441"/>
                    <a:pt x="8880435" y="9565"/>
                  </a:cubicBezTo>
                  <a:cubicBezTo>
                    <a:pt x="8886559" y="15689"/>
                    <a:pt x="8890000" y="23996"/>
                    <a:pt x="8890000" y="32657"/>
                  </a:cubicBezTo>
                  <a:lnTo>
                    <a:pt x="8890000" y="1161143"/>
                  </a:lnTo>
                  <a:cubicBezTo>
                    <a:pt x="8890000" y="1169804"/>
                    <a:pt x="8886559" y="1178111"/>
                    <a:pt x="8880435" y="1184235"/>
                  </a:cubicBezTo>
                  <a:cubicBezTo>
                    <a:pt x="8874310" y="1190359"/>
                    <a:pt x="8866004" y="1193800"/>
                    <a:pt x="8857343" y="1193800"/>
                  </a:cubicBezTo>
                  <a:lnTo>
                    <a:pt x="32657" y="1193800"/>
                  </a:lnTo>
                  <a:cubicBezTo>
                    <a:pt x="23996" y="1193800"/>
                    <a:pt x="15689" y="1190359"/>
                    <a:pt x="9565" y="1184235"/>
                  </a:cubicBezTo>
                  <a:cubicBezTo>
                    <a:pt x="3441" y="1178111"/>
                    <a:pt x="0" y="1169804"/>
                    <a:pt x="0" y="1161143"/>
                  </a:cubicBezTo>
                  <a:lnTo>
                    <a:pt x="0" y="32657"/>
                  </a:lnTo>
                  <a:cubicBezTo>
                    <a:pt x="0" y="23996"/>
                    <a:pt x="3441" y="15689"/>
                    <a:pt x="9565" y="9565"/>
                  </a:cubicBezTo>
                  <a:cubicBezTo>
                    <a:pt x="15689" y="3441"/>
                    <a:pt x="23996" y="0"/>
                    <a:pt x="32657" y="0"/>
                  </a:cubicBezTo>
                  <a:close/>
                </a:path>
              </a:pathLst>
            </a:custGeom>
            <a:solidFill>
              <a:srgbClr val="FFFFFF"/>
            </a:solidFill>
            <a:ln cap="sq">
              <a:noFill/>
              <a:prstDash val="solid"/>
              <a:miter/>
            </a:ln>
          </p:spPr>
        </p:sp>
        <p:sp>
          <p:nvSpPr>
            <p:cNvPr name="TextBox 13" id="13"/>
            <p:cNvSpPr txBox="true"/>
            <p:nvPr/>
          </p:nvSpPr>
          <p:spPr>
            <a:xfrm>
              <a:off x="0" y="9525"/>
              <a:ext cx="8890000" cy="11842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CHỜ DUYỆT</a:t>
              </a:r>
            </a:p>
          </p:txBody>
        </p:sp>
      </p:grpSp>
      <p:sp>
        <p:nvSpPr>
          <p:cNvPr name="AutoShape 14" id="14"/>
          <p:cNvSpPr/>
          <p:nvPr/>
        </p:nvSpPr>
        <p:spPr>
          <a:xfrm>
            <a:off x="4476750" y="5086350"/>
            <a:ext cx="0" cy="342900"/>
          </a:xfrm>
          <a:prstGeom prst="line">
            <a:avLst/>
          </a:prstGeom>
          <a:ln cap="flat" w="28575">
            <a:solidFill>
              <a:srgbClr val="168AAD"/>
            </a:solidFill>
            <a:prstDash val="solid"/>
            <a:headEnd type="none" len="sm" w="sm"/>
            <a:tailEnd type="none" len="sm" w="sm"/>
          </a:ln>
        </p:spPr>
      </p:sp>
      <p:grpSp>
        <p:nvGrpSpPr>
          <p:cNvPr name="Group 15" id="15"/>
          <p:cNvGrpSpPr/>
          <p:nvPr/>
        </p:nvGrpSpPr>
        <p:grpSpPr>
          <a:xfrm rot="0">
            <a:off x="1143000" y="5524500"/>
            <a:ext cx="6667500" cy="895350"/>
            <a:chOff x="0" y="0"/>
            <a:chExt cx="8890000" cy="1193800"/>
          </a:xfrm>
        </p:grpSpPr>
        <p:sp>
          <p:nvSpPr>
            <p:cNvPr name="Freeform 16" id="16"/>
            <p:cNvSpPr/>
            <p:nvPr/>
          </p:nvSpPr>
          <p:spPr>
            <a:xfrm flipH="false" flipV="false" rot="0">
              <a:off x="0" y="0"/>
              <a:ext cx="8890000" cy="1193800"/>
            </a:xfrm>
            <a:custGeom>
              <a:avLst/>
              <a:gdLst/>
              <a:ahLst/>
              <a:cxnLst/>
              <a:rect r="r" b="b" t="t" l="l"/>
              <a:pathLst>
                <a:path h="1193800" w="8890000">
                  <a:moveTo>
                    <a:pt x="32657" y="0"/>
                  </a:moveTo>
                  <a:lnTo>
                    <a:pt x="8857343" y="0"/>
                  </a:lnTo>
                  <a:cubicBezTo>
                    <a:pt x="8866004" y="0"/>
                    <a:pt x="8874310" y="3441"/>
                    <a:pt x="8880435" y="9565"/>
                  </a:cubicBezTo>
                  <a:cubicBezTo>
                    <a:pt x="8886559" y="15689"/>
                    <a:pt x="8890000" y="23996"/>
                    <a:pt x="8890000" y="32657"/>
                  </a:cubicBezTo>
                  <a:lnTo>
                    <a:pt x="8890000" y="1161143"/>
                  </a:lnTo>
                  <a:cubicBezTo>
                    <a:pt x="8890000" y="1169804"/>
                    <a:pt x="8886559" y="1178111"/>
                    <a:pt x="8880435" y="1184235"/>
                  </a:cubicBezTo>
                  <a:cubicBezTo>
                    <a:pt x="8874310" y="1190359"/>
                    <a:pt x="8866004" y="1193800"/>
                    <a:pt x="8857343" y="1193800"/>
                  </a:cubicBezTo>
                  <a:lnTo>
                    <a:pt x="32657" y="1193800"/>
                  </a:lnTo>
                  <a:cubicBezTo>
                    <a:pt x="23996" y="1193800"/>
                    <a:pt x="15689" y="1190359"/>
                    <a:pt x="9565" y="1184235"/>
                  </a:cubicBezTo>
                  <a:cubicBezTo>
                    <a:pt x="3441" y="1178111"/>
                    <a:pt x="0" y="1169804"/>
                    <a:pt x="0" y="1161143"/>
                  </a:cubicBezTo>
                  <a:lnTo>
                    <a:pt x="0" y="32657"/>
                  </a:lnTo>
                  <a:cubicBezTo>
                    <a:pt x="0" y="23996"/>
                    <a:pt x="3441" y="15689"/>
                    <a:pt x="9565" y="9565"/>
                  </a:cubicBezTo>
                  <a:cubicBezTo>
                    <a:pt x="15689" y="3441"/>
                    <a:pt x="23996" y="0"/>
                    <a:pt x="32657" y="0"/>
                  </a:cubicBezTo>
                  <a:close/>
                </a:path>
              </a:pathLst>
            </a:custGeom>
            <a:solidFill>
              <a:srgbClr val="FFFFFF"/>
            </a:solidFill>
            <a:ln cap="sq">
              <a:noFill/>
              <a:prstDash val="solid"/>
              <a:miter/>
            </a:ln>
          </p:spPr>
        </p:sp>
        <p:sp>
          <p:nvSpPr>
            <p:cNvPr name="TextBox 17" id="17"/>
            <p:cNvSpPr txBox="true"/>
            <p:nvPr/>
          </p:nvSpPr>
          <p:spPr>
            <a:xfrm>
              <a:off x="0" y="9525"/>
              <a:ext cx="8890000" cy="11842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CHỜ GIAO</a:t>
              </a:r>
            </a:p>
          </p:txBody>
        </p:sp>
      </p:grpSp>
      <p:sp>
        <p:nvSpPr>
          <p:cNvPr name="AutoShape 18" id="18"/>
          <p:cNvSpPr/>
          <p:nvPr/>
        </p:nvSpPr>
        <p:spPr>
          <a:xfrm>
            <a:off x="4476750" y="6419850"/>
            <a:ext cx="0" cy="342900"/>
          </a:xfrm>
          <a:prstGeom prst="line">
            <a:avLst/>
          </a:prstGeom>
          <a:ln cap="flat" w="28575">
            <a:solidFill>
              <a:srgbClr val="168AAD"/>
            </a:solidFill>
            <a:prstDash val="solid"/>
            <a:headEnd type="none" len="sm" w="sm"/>
            <a:tailEnd type="none" len="sm" w="sm"/>
          </a:ln>
        </p:spPr>
      </p:sp>
      <p:grpSp>
        <p:nvGrpSpPr>
          <p:cNvPr name="Group 19" id="19"/>
          <p:cNvGrpSpPr/>
          <p:nvPr/>
        </p:nvGrpSpPr>
        <p:grpSpPr>
          <a:xfrm rot="0">
            <a:off x="1143000" y="6858000"/>
            <a:ext cx="6667500" cy="895350"/>
            <a:chOff x="0" y="0"/>
            <a:chExt cx="8890000" cy="1193800"/>
          </a:xfrm>
        </p:grpSpPr>
        <p:sp>
          <p:nvSpPr>
            <p:cNvPr name="Freeform 20" id="20"/>
            <p:cNvSpPr/>
            <p:nvPr/>
          </p:nvSpPr>
          <p:spPr>
            <a:xfrm flipH="false" flipV="false" rot="0">
              <a:off x="0" y="0"/>
              <a:ext cx="8890000" cy="1193800"/>
            </a:xfrm>
            <a:custGeom>
              <a:avLst/>
              <a:gdLst/>
              <a:ahLst/>
              <a:cxnLst/>
              <a:rect r="r" b="b" t="t" l="l"/>
              <a:pathLst>
                <a:path h="1193800" w="8890000">
                  <a:moveTo>
                    <a:pt x="32657" y="0"/>
                  </a:moveTo>
                  <a:lnTo>
                    <a:pt x="8857343" y="0"/>
                  </a:lnTo>
                  <a:cubicBezTo>
                    <a:pt x="8866004" y="0"/>
                    <a:pt x="8874310" y="3441"/>
                    <a:pt x="8880435" y="9565"/>
                  </a:cubicBezTo>
                  <a:cubicBezTo>
                    <a:pt x="8886559" y="15689"/>
                    <a:pt x="8890000" y="23996"/>
                    <a:pt x="8890000" y="32657"/>
                  </a:cubicBezTo>
                  <a:lnTo>
                    <a:pt x="8890000" y="1161143"/>
                  </a:lnTo>
                  <a:cubicBezTo>
                    <a:pt x="8890000" y="1169804"/>
                    <a:pt x="8886559" y="1178111"/>
                    <a:pt x="8880435" y="1184235"/>
                  </a:cubicBezTo>
                  <a:cubicBezTo>
                    <a:pt x="8874310" y="1190359"/>
                    <a:pt x="8866004" y="1193800"/>
                    <a:pt x="8857343" y="1193800"/>
                  </a:cubicBezTo>
                  <a:lnTo>
                    <a:pt x="32657" y="1193800"/>
                  </a:lnTo>
                  <a:cubicBezTo>
                    <a:pt x="23996" y="1193800"/>
                    <a:pt x="15689" y="1190359"/>
                    <a:pt x="9565" y="1184235"/>
                  </a:cubicBezTo>
                  <a:cubicBezTo>
                    <a:pt x="3441" y="1178111"/>
                    <a:pt x="0" y="1169804"/>
                    <a:pt x="0" y="1161143"/>
                  </a:cubicBezTo>
                  <a:lnTo>
                    <a:pt x="0" y="32657"/>
                  </a:lnTo>
                  <a:cubicBezTo>
                    <a:pt x="0" y="23996"/>
                    <a:pt x="3441" y="15689"/>
                    <a:pt x="9565" y="9565"/>
                  </a:cubicBezTo>
                  <a:cubicBezTo>
                    <a:pt x="15689" y="3441"/>
                    <a:pt x="23996" y="0"/>
                    <a:pt x="32657" y="0"/>
                  </a:cubicBezTo>
                  <a:close/>
                </a:path>
              </a:pathLst>
            </a:custGeom>
            <a:solidFill>
              <a:srgbClr val="55D6BE"/>
            </a:solidFill>
            <a:ln cap="sq">
              <a:noFill/>
              <a:prstDash val="solid"/>
              <a:miter/>
            </a:ln>
          </p:spPr>
        </p:sp>
        <p:sp>
          <p:nvSpPr>
            <p:cNvPr name="TextBox 21" id="21"/>
            <p:cNvSpPr txBox="true"/>
            <p:nvPr/>
          </p:nvSpPr>
          <p:spPr>
            <a:xfrm>
              <a:off x="0" y="9525"/>
              <a:ext cx="8890000" cy="1184275"/>
            </a:xfrm>
            <a:prstGeom prst="rect">
              <a:avLst/>
            </a:prstGeom>
          </p:spPr>
          <p:txBody>
            <a:bodyPr anchor="ctr" rtlCol="false" tIns="50800" lIns="50800" bIns="50800" rIns="50800"/>
            <a:lstStyle/>
            <a:p>
              <a:pPr algn="ctr">
                <a:lnSpc>
                  <a:spcPts val="1897"/>
                </a:lnSpc>
              </a:pPr>
              <a:r>
                <a:rPr lang="en-US" sz="1650" b="true">
                  <a:solidFill>
                    <a:srgbClr val="102B3F"/>
                  </a:solidFill>
                  <a:latin typeface="Noto Sans Bold"/>
                  <a:ea typeface="Noto Sans Bold"/>
                  <a:cs typeface="Noto Sans Bold"/>
                  <a:sym typeface="Noto Sans Bold"/>
                </a:rPr>
                <a:t>ĐÃ THANH TOÁN</a:t>
              </a:r>
            </a:p>
          </p:txBody>
        </p:sp>
      </p:grpSp>
      <p:sp>
        <p:nvSpPr>
          <p:cNvPr name="TextBox 22" id="22"/>
          <p:cNvSpPr txBox="true"/>
          <p:nvPr/>
        </p:nvSpPr>
        <p:spPr>
          <a:xfrm rot="0">
            <a:off x="1143000" y="8410575"/>
            <a:ext cx="7429500" cy="594360"/>
          </a:xfrm>
          <a:prstGeom prst="rect">
            <a:avLst/>
          </a:prstGeom>
        </p:spPr>
        <p:txBody>
          <a:bodyPr anchor="t" rtlCol="false" tIns="0" lIns="0" bIns="0" rIns="0">
            <a:spAutoFit/>
          </a:bodyPr>
          <a:lstStyle/>
          <a:p>
            <a:pPr algn="l">
              <a:lnSpc>
                <a:spcPts val="2430"/>
              </a:lnSpc>
            </a:pPr>
            <a:r>
              <a:rPr lang="en-US" sz="1800">
                <a:solidFill>
                  <a:srgbClr val="6D7B82"/>
                </a:solidFill>
                <a:latin typeface="Noto Sans"/>
                <a:ea typeface="Noto Sans"/>
                <a:cs typeface="Noto Sans"/>
                <a:sym typeface="Noto Sans"/>
              </a:rPr>
              <a:t>Refresh realtime • bảng kê đầu sách • tổng sau chiết khấu • duyệt và chuyển trạng thái giao vận</a:t>
            </a:r>
          </a:p>
        </p:txBody>
      </p:sp>
      <p:grpSp>
        <p:nvGrpSpPr>
          <p:cNvPr name="Group 23" id="23"/>
          <p:cNvGrpSpPr/>
          <p:nvPr/>
        </p:nvGrpSpPr>
        <p:grpSpPr>
          <a:xfrm rot="0">
            <a:off x="990600" y="9696450"/>
            <a:ext cx="16249650" cy="228600"/>
            <a:chOff x="0" y="0"/>
            <a:chExt cx="21666200" cy="304800"/>
          </a:xfrm>
        </p:grpSpPr>
        <p:sp>
          <p:nvSpPr>
            <p:cNvPr name="TextBox 24" id="24"/>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25" id="25"/>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12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12 — QUẢN LÝ KHO HÀNG</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102B3F"/>
                  </a:solidFill>
                  <a:latin typeface="Be Vietnam Ultra-Bold"/>
                  <a:ea typeface="Be Vietnam Ultra-Bold"/>
                  <a:cs typeface="Be Vietnam Ultra-Bold"/>
                  <a:sym typeface="Be Vietnam Ultra-Bold"/>
                </a:rPr>
                <a:t>Tồn kho nhìn thấy được, ràng buộc xóa an toàn</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sp>
        <p:nvSpPr>
          <p:cNvPr name="Freeform 6" id="6"/>
          <p:cNvSpPr/>
          <p:nvPr/>
        </p:nvSpPr>
        <p:spPr>
          <a:xfrm flipH="false" flipV="false" rot="0">
            <a:off x="8382000" y="2095500"/>
            <a:ext cx="8572500" cy="7048500"/>
          </a:xfrm>
          <a:custGeom>
            <a:avLst/>
            <a:gdLst/>
            <a:ahLst/>
            <a:cxnLst/>
            <a:rect r="r" b="b" t="t" l="l"/>
            <a:pathLst>
              <a:path h="7048500" w="8572500">
                <a:moveTo>
                  <a:pt x="0" y="0"/>
                </a:moveTo>
                <a:lnTo>
                  <a:pt x="8572500" y="0"/>
                </a:lnTo>
                <a:lnTo>
                  <a:pt x="8572500" y="7048500"/>
                </a:lnTo>
                <a:lnTo>
                  <a:pt x="0" y="7048500"/>
                </a:lnTo>
                <a:lnTo>
                  <a:pt x="0" y="0"/>
                </a:lnTo>
                <a:close/>
              </a:path>
            </a:pathLst>
          </a:custGeom>
          <a:blipFill>
            <a:blip r:embed="rId2"/>
            <a:stretch>
              <a:fillRect l="-23086" t="0" r="-23086" b="0"/>
            </a:stretch>
          </a:blipFill>
          <a:ln cap="sq">
            <a:noFill/>
            <a:prstDash val="solid"/>
            <a:miter/>
          </a:ln>
        </p:spPr>
      </p:sp>
      <p:sp>
        <p:nvSpPr>
          <p:cNvPr name="TextBox 7" id="7"/>
          <p:cNvSpPr txBox="true"/>
          <p:nvPr/>
        </p:nvSpPr>
        <p:spPr>
          <a:xfrm rot="0">
            <a:off x="1333500" y="2943225"/>
            <a:ext cx="4762500" cy="861536"/>
          </a:xfrm>
          <a:prstGeom prst="rect">
            <a:avLst/>
          </a:prstGeom>
        </p:spPr>
        <p:txBody>
          <a:bodyPr anchor="t" rtlCol="false" tIns="0" lIns="0" bIns="0" rIns="0">
            <a:spAutoFit/>
          </a:bodyPr>
          <a:lstStyle/>
          <a:p>
            <a:pPr algn="l">
              <a:lnSpc>
                <a:spcPts val="6536"/>
              </a:lnSpc>
            </a:pPr>
            <a:r>
              <a:rPr lang="en-US" sz="6225" b="true">
                <a:solidFill>
                  <a:srgbClr val="168AAD"/>
                </a:solidFill>
                <a:latin typeface="Be Vietnam Ultra-Bold"/>
                <a:ea typeface="Be Vietnam Ultra-Bold"/>
                <a:cs typeface="Be Vietnam Ultra-Bold"/>
                <a:sym typeface="Be Vietnam Ultra-Bold"/>
              </a:rPr>
              <a:t>KO833</a:t>
            </a:r>
          </a:p>
        </p:txBody>
      </p:sp>
      <p:sp>
        <p:nvSpPr>
          <p:cNvPr name="TextBox 8" id="8"/>
          <p:cNvSpPr txBox="true"/>
          <p:nvPr/>
        </p:nvSpPr>
        <p:spPr>
          <a:xfrm rot="0">
            <a:off x="1381125" y="3819525"/>
            <a:ext cx="5905500" cy="342424"/>
          </a:xfrm>
          <a:prstGeom prst="rect">
            <a:avLst/>
          </a:prstGeom>
        </p:spPr>
        <p:txBody>
          <a:bodyPr anchor="t" rtlCol="false" tIns="0" lIns="0" bIns="0" rIns="0">
            <a:spAutoFit/>
          </a:bodyPr>
          <a:lstStyle/>
          <a:p>
            <a:pPr algn="l">
              <a:lnSpc>
                <a:spcPts val="2733"/>
              </a:lnSpc>
            </a:pPr>
            <a:r>
              <a:rPr lang="en-US" sz="2025">
                <a:solidFill>
                  <a:srgbClr val="102B3F"/>
                </a:solidFill>
                <a:latin typeface="Noto Sans"/>
                <a:ea typeface="Noto Sans"/>
                <a:cs typeface="Noto Sans"/>
                <a:sym typeface="Noto Sans"/>
              </a:rPr>
              <a:t>Kho trung tâm • Đang hoạt động</a:t>
            </a:r>
          </a:p>
        </p:txBody>
      </p:sp>
      <p:sp>
        <p:nvSpPr>
          <p:cNvPr name="TextBox 9" id="9"/>
          <p:cNvSpPr txBox="true"/>
          <p:nvPr/>
        </p:nvSpPr>
        <p:spPr>
          <a:xfrm rot="0">
            <a:off x="1333500" y="5372100"/>
            <a:ext cx="4762500" cy="861536"/>
          </a:xfrm>
          <a:prstGeom prst="rect">
            <a:avLst/>
          </a:prstGeom>
        </p:spPr>
        <p:txBody>
          <a:bodyPr anchor="t" rtlCol="false" tIns="0" lIns="0" bIns="0" rIns="0">
            <a:spAutoFit/>
          </a:bodyPr>
          <a:lstStyle/>
          <a:p>
            <a:pPr algn="l">
              <a:lnSpc>
                <a:spcPts val="6536"/>
              </a:lnSpc>
            </a:pPr>
            <a:r>
              <a:rPr lang="en-US" sz="6225" b="true">
                <a:solidFill>
                  <a:srgbClr val="FF6B5B"/>
                </a:solidFill>
                <a:latin typeface="Be Vietnam Ultra-Bold"/>
                <a:ea typeface="Be Vietnam Ultra-Bold"/>
                <a:cs typeface="Be Vietnam Ultra-Bold"/>
                <a:sym typeface="Be Vietnam Ultra-Bold"/>
              </a:rPr>
              <a:t>KO867</a:t>
            </a:r>
          </a:p>
        </p:txBody>
      </p:sp>
      <p:sp>
        <p:nvSpPr>
          <p:cNvPr name="TextBox 10" id="10"/>
          <p:cNvSpPr txBox="true"/>
          <p:nvPr/>
        </p:nvSpPr>
        <p:spPr>
          <a:xfrm rot="0">
            <a:off x="1381125" y="6248400"/>
            <a:ext cx="5905500" cy="342424"/>
          </a:xfrm>
          <a:prstGeom prst="rect">
            <a:avLst/>
          </a:prstGeom>
        </p:spPr>
        <p:txBody>
          <a:bodyPr anchor="t" rtlCol="false" tIns="0" lIns="0" bIns="0" rIns="0">
            <a:spAutoFit/>
          </a:bodyPr>
          <a:lstStyle/>
          <a:p>
            <a:pPr algn="l">
              <a:lnSpc>
                <a:spcPts val="2733"/>
              </a:lnSpc>
            </a:pPr>
            <a:r>
              <a:rPr lang="en-US" sz="2025">
                <a:solidFill>
                  <a:srgbClr val="102B3F"/>
                </a:solidFill>
                <a:latin typeface="Noto Sans"/>
                <a:ea typeface="Noto Sans"/>
                <a:cs typeface="Noto Sans"/>
                <a:sym typeface="Noto Sans"/>
              </a:rPr>
              <a:t>Kho chi nhánh • Xem tồn chi tiết</a:t>
            </a:r>
          </a:p>
        </p:txBody>
      </p:sp>
      <p:sp>
        <p:nvSpPr>
          <p:cNvPr name="TextBox 11" id="11"/>
          <p:cNvSpPr txBox="true"/>
          <p:nvPr/>
        </p:nvSpPr>
        <p:spPr>
          <a:xfrm rot="0">
            <a:off x="1381125" y="7600950"/>
            <a:ext cx="5905500" cy="594360"/>
          </a:xfrm>
          <a:prstGeom prst="rect">
            <a:avLst/>
          </a:prstGeom>
        </p:spPr>
        <p:txBody>
          <a:bodyPr anchor="t" rtlCol="false" tIns="0" lIns="0" bIns="0" rIns="0">
            <a:spAutoFit/>
          </a:bodyPr>
          <a:lstStyle/>
          <a:p>
            <a:pPr algn="l">
              <a:lnSpc>
                <a:spcPts val="2430"/>
              </a:lnSpc>
            </a:pPr>
            <a:r>
              <a:rPr lang="en-US" sz="1800">
                <a:solidFill>
                  <a:srgbClr val="6D7B82"/>
                </a:solidFill>
                <a:latin typeface="Noto Sans"/>
                <a:ea typeface="Noto Sans"/>
                <a:cs typeface="Noto Sans"/>
                <a:sym typeface="Noto Sans"/>
              </a:rPr>
              <a:t>Thêm kho: mã • tên • địa chỉ</a:t>
            </a:r>
          </a:p>
          <a:p>
            <a:pPr algn="l">
              <a:lnSpc>
                <a:spcPts val="2430"/>
              </a:lnSpc>
            </a:pPr>
            <a:r>
              <a:rPr lang="en-US" sz="1800">
                <a:solidFill>
                  <a:srgbClr val="6D7B82"/>
                </a:solidFill>
                <a:latin typeface="Noto Sans"/>
                <a:ea typeface="Noto Sans"/>
                <a:cs typeface="Noto Sans"/>
                <a:sym typeface="Noto Sans"/>
              </a:rPr>
              <a:t>Không xóa khi vẫn còn tồn hàng</a:t>
            </a:r>
          </a:p>
        </p:txBody>
      </p:sp>
      <p:grpSp>
        <p:nvGrpSpPr>
          <p:cNvPr name="Group 12" id="12"/>
          <p:cNvGrpSpPr/>
          <p:nvPr/>
        </p:nvGrpSpPr>
        <p:grpSpPr>
          <a:xfrm rot="0">
            <a:off x="990600" y="9696450"/>
            <a:ext cx="16249650" cy="228600"/>
            <a:chOff x="0" y="0"/>
            <a:chExt cx="21666200" cy="304800"/>
          </a:xfrm>
        </p:grpSpPr>
        <p:sp>
          <p:nvSpPr>
            <p:cNvPr name="TextBox 13" id="13"/>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14" id="14"/>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13</a:t>
              </a:r>
            </a:p>
          </p:txBody>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071A2B"/>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55D6BE"/>
                  </a:solidFill>
                  <a:latin typeface="Noto Sans Bold"/>
                  <a:ea typeface="Noto Sans Bold"/>
                  <a:cs typeface="Noto Sans Bold"/>
                  <a:sym typeface="Noto Sans Bold"/>
                </a:rPr>
                <a:t>13 — QUẢN LÝ CÔNG NỢ</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FFFFFF"/>
                  </a:solidFill>
                  <a:latin typeface="Be Vietnam Ultra-Bold"/>
                  <a:ea typeface="Be Vietnam Ultra-Bold"/>
                  <a:cs typeface="Be Vietnam Ultra-Bold"/>
                  <a:sym typeface="Be Vietnam Ultra-Bold"/>
                </a:rPr>
                <a:t>Công nợ minh bạch theo từng đại lý</a:t>
              </a:r>
            </a:p>
          </p:txBody>
        </p:sp>
        <p:sp>
          <p:nvSpPr>
            <p:cNvPr name="AutoShape 5" id="5"/>
            <p:cNvSpPr/>
            <p:nvPr/>
          </p:nvSpPr>
          <p:spPr>
            <a:xfrm>
              <a:off x="0" y="1600200"/>
              <a:ext cx="21742400" cy="0"/>
            </a:xfrm>
            <a:prstGeom prst="line">
              <a:avLst/>
            </a:prstGeom>
            <a:ln cap="flat" w="25400">
              <a:solidFill>
                <a:srgbClr val="55D6BE"/>
              </a:solidFill>
              <a:prstDash val="solid"/>
              <a:headEnd type="none" len="sm" w="sm"/>
              <a:tailEnd type="none" len="sm" w="sm"/>
            </a:ln>
          </p:spPr>
        </p:sp>
      </p:grpSp>
      <p:grpSp>
        <p:nvGrpSpPr>
          <p:cNvPr name="Group 6" id="6"/>
          <p:cNvGrpSpPr/>
          <p:nvPr/>
        </p:nvGrpSpPr>
        <p:grpSpPr>
          <a:xfrm rot="0">
            <a:off x="1047750" y="2857500"/>
            <a:ext cx="4953000" cy="2381250"/>
            <a:chOff x="0" y="0"/>
            <a:chExt cx="6604000" cy="3175000"/>
          </a:xfrm>
        </p:grpSpPr>
        <p:grpSp>
          <p:nvGrpSpPr>
            <p:cNvPr name="Group 7" id="7"/>
            <p:cNvGrpSpPr/>
            <p:nvPr/>
          </p:nvGrpSpPr>
          <p:grpSpPr>
            <a:xfrm rot="0">
              <a:off x="0" y="0"/>
              <a:ext cx="6604000" cy="3175000"/>
              <a:chOff x="0" y="0"/>
              <a:chExt cx="6604000" cy="3175000"/>
            </a:xfrm>
          </p:grpSpPr>
          <p:sp>
            <p:nvSpPr>
              <p:cNvPr name="Freeform 8" id="8"/>
              <p:cNvSpPr/>
              <p:nvPr/>
            </p:nvSpPr>
            <p:spPr>
              <a:xfrm flipH="false" flipV="false" rot="0">
                <a:off x="0" y="0"/>
                <a:ext cx="6604000" cy="3175000"/>
              </a:xfrm>
              <a:custGeom>
                <a:avLst/>
                <a:gdLst/>
                <a:ahLst/>
                <a:cxnLst/>
                <a:rect r="r" b="b" t="t" l="l"/>
                <a:pathLst>
                  <a:path h="3175000" w="6604000">
                    <a:moveTo>
                      <a:pt x="0" y="0"/>
                    </a:moveTo>
                    <a:lnTo>
                      <a:pt x="6604000" y="0"/>
                    </a:lnTo>
                    <a:lnTo>
                      <a:pt x="6604000" y="3175000"/>
                    </a:lnTo>
                    <a:lnTo>
                      <a:pt x="0" y="3175000"/>
                    </a:lnTo>
                    <a:close/>
                  </a:path>
                </a:pathLst>
              </a:custGeom>
              <a:solidFill>
                <a:srgbClr val="102F45"/>
              </a:solidFill>
              <a:ln cap="sq">
                <a:noFill/>
                <a:prstDash val="solid"/>
                <a:miter/>
              </a:ln>
            </p:spPr>
          </p:sp>
          <p:sp>
            <p:nvSpPr>
              <p:cNvPr name="TextBox 9" id="9"/>
              <p:cNvSpPr txBox="true"/>
              <p:nvPr/>
            </p:nvSpPr>
            <p:spPr>
              <a:xfrm>
                <a:off x="0" y="-38100"/>
                <a:ext cx="6604000" cy="3213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508000" y="711200"/>
              <a:ext cx="5969000" cy="1013460"/>
            </a:xfrm>
            <a:prstGeom prst="rect">
              <a:avLst/>
            </a:prstGeom>
          </p:spPr>
          <p:txBody>
            <a:bodyPr anchor="t" rtlCol="false" tIns="0" lIns="0" bIns="0" rIns="0">
              <a:spAutoFit/>
            </a:bodyPr>
            <a:lstStyle/>
            <a:p>
              <a:pPr algn="l">
                <a:lnSpc>
                  <a:spcPts val="5670"/>
                </a:lnSpc>
              </a:pPr>
              <a:r>
                <a:rPr lang="en-US" sz="5400" b="true">
                  <a:solidFill>
                    <a:srgbClr val="FF6B5B"/>
                  </a:solidFill>
                  <a:latin typeface="Be Vietnam Ultra-Bold"/>
                  <a:ea typeface="Be Vietnam Ultra-Bold"/>
                  <a:cs typeface="Be Vietnam Ultra-Bold"/>
                  <a:sym typeface="Be Vietnam Ultra-Bold"/>
                </a:rPr>
                <a:t>68%</a:t>
              </a:r>
            </a:p>
          </p:txBody>
        </p:sp>
        <p:sp>
          <p:nvSpPr>
            <p:cNvPr name="TextBox 11" id="11"/>
            <p:cNvSpPr txBox="true"/>
            <p:nvPr/>
          </p:nvSpPr>
          <p:spPr>
            <a:xfrm rot="0">
              <a:off x="508000" y="1939925"/>
              <a:ext cx="5969000" cy="300355"/>
            </a:xfrm>
            <a:prstGeom prst="rect">
              <a:avLst/>
            </a:prstGeom>
          </p:spPr>
          <p:txBody>
            <a:bodyPr anchor="t" rtlCol="false" tIns="0" lIns="0" bIns="0" rIns="0">
              <a:spAutoFit/>
            </a:bodyPr>
            <a:lstStyle/>
            <a:p>
              <a:pPr algn="l">
                <a:lnSpc>
                  <a:spcPts val="1889"/>
                </a:lnSpc>
              </a:pPr>
              <a:r>
                <a:rPr lang="en-US" sz="1350" spc="162" b="true">
                  <a:solidFill>
                    <a:srgbClr val="FFFFFF"/>
                  </a:solidFill>
                  <a:latin typeface="Noto Sans Bold"/>
                  <a:ea typeface="Noto Sans Bold"/>
                  <a:cs typeface="Noto Sans Bold"/>
                  <a:sym typeface="Noto Sans Bold"/>
                </a:rPr>
                <a:t>TỶ LỆ NỢ</a:t>
              </a:r>
            </a:p>
          </p:txBody>
        </p:sp>
      </p:grpSp>
      <p:grpSp>
        <p:nvGrpSpPr>
          <p:cNvPr name="Group 12" id="12"/>
          <p:cNvGrpSpPr/>
          <p:nvPr/>
        </p:nvGrpSpPr>
        <p:grpSpPr>
          <a:xfrm rot="0">
            <a:off x="6477000" y="2857500"/>
            <a:ext cx="4953000" cy="2381250"/>
            <a:chOff x="0" y="0"/>
            <a:chExt cx="6604000" cy="3175000"/>
          </a:xfrm>
        </p:grpSpPr>
        <p:grpSp>
          <p:nvGrpSpPr>
            <p:cNvPr name="Group 13" id="13"/>
            <p:cNvGrpSpPr/>
            <p:nvPr/>
          </p:nvGrpSpPr>
          <p:grpSpPr>
            <a:xfrm rot="0">
              <a:off x="0" y="0"/>
              <a:ext cx="6604000" cy="3175000"/>
              <a:chOff x="0" y="0"/>
              <a:chExt cx="6604000" cy="3175000"/>
            </a:xfrm>
          </p:grpSpPr>
          <p:sp>
            <p:nvSpPr>
              <p:cNvPr name="Freeform 14" id="14"/>
              <p:cNvSpPr/>
              <p:nvPr/>
            </p:nvSpPr>
            <p:spPr>
              <a:xfrm flipH="false" flipV="false" rot="0">
                <a:off x="0" y="0"/>
                <a:ext cx="6604000" cy="3175000"/>
              </a:xfrm>
              <a:custGeom>
                <a:avLst/>
                <a:gdLst/>
                <a:ahLst/>
                <a:cxnLst/>
                <a:rect r="r" b="b" t="t" l="l"/>
                <a:pathLst>
                  <a:path h="3175000" w="6604000">
                    <a:moveTo>
                      <a:pt x="0" y="0"/>
                    </a:moveTo>
                    <a:lnTo>
                      <a:pt x="6604000" y="0"/>
                    </a:lnTo>
                    <a:lnTo>
                      <a:pt x="6604000" y="3175000"/>
                    </a:lnTo>
                    <a:lnTo>
                      <a:pt x="0" y="3175000"/>
                    </a:lnTo>
                    <a:close/>
                  </a:path>
                </a:pathLst>
              </a:custGeom>
              <a:solidFill>
                <a:srgbClr val="102F45"/>
              </a:solidFill>
              <a:ln cap="sq">
                <a:noFill/>
                <a:prstDash val="solid"/>
                <a:miter/>
              </a:ln>
            </p:spPr>
          </p:sp>
          <p:sp>
            <p:nvSpPr>
              <p:cNvPr name="TextBox 15" id="15"/>
              <p:cNvSpPr txBox="true"/>
              <p:nvPr/>
            </p:nvSpPr>
            <p:spPr>
              <a:xfrm>
                <a:off x="0" y="-38100"/>
                <a:ext cx="6604000" cy="3213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508000" y="711200"/>
              <a:ext cx="5969000" cy="1013460"/>
            </a:xfrm>
            <a:prstGeom prst="rect">
              <a:avLst/>
            </a:prstGeom>
          </p:spPr>
          <p:txBody>
            <a:bodyPr anchor="t" rtlCol="false" tIns="0" lIns="0" bIns="0" rIns="0">
              <a:spAutoFit/>
            </a:bodyPr>
            <a:lstStyle/>
            <a:p>
              <a:pPr algn="l">
                <a:lnSpc>
                  <a:spcPts val="5670"/>
                </a:lnSpc>
              </a:pPr>
              <a:r>
                <a:rPr lang="en-US" sz="5400" b="true">
                  <a:solidFill>
                    <a:srgbClr val="55D6BE"/>
                  </a:solidFill>
                  <a:latin typeface="Be Vietnam Ultra-Bold"/>
                  <a:ea typeface="Be Vietnam Ultra-Bold"/>
                  <a:cs typeface="Be Vietnam Ultra-Bold"/>
                  <a:sym typeface="Be Vietnam Ultra-Bold"/>
                </a:rPr>
                <a:t>PCNxxx</a:t>
              </a:r>
            </a:p>
          </p:txBody>
        </p:sp>
        <p:sp>
          <p:nvSpPr>
            <p:cNvPr name="TextBox 17" id="17"/>
            <p:cNvSpPr txBox="true"/>
            <p:nvPr/>
          </p:nvSpPr>
          <p:spPr>
            <a:xfrm rot="0">
              <a:off x="508000" y="1939925"/>
              <a:ext cx="5969000" cy="300355"/>
            </a:xfrm>
            <a:prstGeom prst="rect">
              <a:avLst/>
            </a:prstGeom>
          </p:spPr>
          <p:txBody>
            <a:bodyPr anchor="t" rtlCol="false" tIns="0" lIns="0" bIns="0" rIns="0">
              <a:spAutoFit/>
            </a:bodyPr>
            <a:lstStyle/>
            <a:p>
              <a:pPr algn="l">
                <a:lnSpc>
                  <a:spcPts val="1889"/>
                </a:lnSpc>
              </a:pPr>
              <a:r>
                <a:rPr lang="en-US" sz="1350" spc="162" b="true">
                  <a:solidFill>
                    <a:srgbClr val="FFFFFF"/>
                  </a:solidFill>
                  <a:latin typeface="Noto Sans Bold"/>
                  <a:ea typeface="Noto Sans Bold"/>
                  <a:cs typeface="Noto Sans Bold"/>
                  <a:sym typeface="Noto Sans Bold"/>
                </a:rPr>
                <a:t>PHIẾU CÔNG NỢ</a:t>
              </a:r>
            </a:p>
          </p:txBody>
        </p:sp>
      </p:grpSp>
      <p:grpSp>
        <p:nvGrpSpPr>
          <p:cNvPr name="Group 18" id="18"/>
          <p:cNvGrpSpPr/>
          <p:nvPr/>
        </p:nvGrpSpPr>
        <p:grpSpPr>
          <a:xfrm rot="0">
            <a:off x="11906250" y="2857500"/>
            <a:ext cx="4953000" cy="2381250"/>
            <a:chOff x="0" y="0"/>
            <a:chExt cx="6604000" cy="3175000"/>
          </a:xfrm>
        </p:grpSpPr>
        <p:grpSp>
          <p:nvGrpSpPr>
            <p:cNvPr name="Group 19" id="19"/>
            <p:cNvGrpSpPr/>
            <p:nvPr/>
          </p:nvGrpSpPr>
          <p:grpSpPr>
            <a:xfrm rot="0">
              <a:off x="0" y="0"/>
              <a:ext cx="6604000" cy="3175000"/>
              <a:chOff x="0" y="0"/>
              <a:chExt cx="6604000" cy="3175000"/>
            </a:xfrm>
          </p:grpSpPr>
          <p:sp>
            <p:nvSpPr>
              <p:cNvPr name="Freeform 20" id="20"/>
              <p:cNvSpPr/>
              <p:nvPr/>
            </p:nvSpPr>
            <p:spPr>
              <a:xfrm flipH="false" flipV="false" rot="0">
                <a:off x="0" y="0"/>
                <a:ext cx="6604000" cy="3175000"/>
              </a:xfrm>
              <a:custGeom>
                <a:avLst/>
                <a:gdLst/>
                <a:ahLst/>
                <a:cxnLst/>
                <a:rect r="r" b="b" t="t" l="l"/>
                <a:pathLst>
                  <a:path h="3175000" w="6604000">
                    <a:moveTo>
                      <a:pt x="0" y="0"/>
                    </a:moveTo>
                    <a:lnTo>
                      <a:pt x="6604000" y="0"/>
                    </a:lnTo>
                    <a:lnTo>
                      <a:pt x="6604000" y="3175000"/>
                    </a:lnTo>
                    <a:lnTo>
                      <a:pt x="0" y="3175000"/>
                    </a:lnTo>
                    <a:close/>
                  </a:path>
                </a:pathLst>
              </a:custGeom>
              <a:solidFill>
                <a:srgbClr val="102F45"/>
              </a:solidFill>
              <a:ln cap="sq">
                <a:noFill/>
                <a:prstDash val="solid"/>
                <a:miter/>
              </a:ln>
            </p:spPr>
          </p:sp>
          <p:sp>
            <p:nvSpPr>
              <p:cNvPr name="TextBox 21" id="21"/>
              <p:cNvSpPr txBox="true"/>
              <p:nvPr/>
            </p:nvSpPr>
            <p:spPr>
              <a:xfrm>
                <a:off x="0" y="-38100"/>
                <a:ext cx="6604000" cy="3213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508000" y="711200"/>
              <a:ext cx="5969000" cy="1013460"/>
            </a:xfrm>
            <a:prstGeom prst="rect">
              <a:avLst/>
            </a:prstGeom>
          </p:spPr>
          <p:txBody>
            <a:bodyPr anchor="t" rtlCol="false" tIns="0" lIns="0" bIns="0" rIns="0">
              <a:spAutoFit/>
            </a:bodyPr>
            <a:lstStyle/>
            <a:p>
              <a:pPr algn="l">
                <a:lnSpc>
                  <a:spcPts val="5670"/>
                </a:lnSpc>
              </a:pPr>
              <a:r>
                <a:rPr lang="en-US" sz="5400" b="true">
                  <a:solidFill>
                    <a:srgbClr val="F2C14E"/>
                  </a:solidFill>
                  <a:latin typeface="Be Vietnam Ultra-Bold"/>
                  <a:ea typeface="Be Vietnam Ultra-Bold"/>
                  <a:cs typeface="Be Vietnam Ultra-Bold"/>
                  <a:sym typeface="Be Vietnam Ultra-Bold"/>
                </a:rPr>
                <a:t>3 bước</a:t>
              </a:r>
            </a:p>
          </p:txBody>
        </p:sp>
        <p:sp>
          <p:nvSpPr>
            <p:cNvPr name="TextBox 23" id="23"/>
            <p:cNvSpPr txBox="true"/>
            <p:nvPr/>
          </p:nvSpPr>
          <p:spPr>
            <a:xfrm rot="0">
              <a:off x="508000" y="1939925"/>
              <a:ext cx="5969000" cy="300355"/>
            </a:xfrm>
            <a:prstGeom prst="rect">
              <a:avLst/>
            </a:prstGeom>
          </p:spPr>
          <p:txBody>
            <a:bodyPr anchor="t" rtlCol="false" tIns="0" lIns="0" bIns="0" rIns="0">
              <a:spAutoFit/>
            </a:bodyPr>
            <a:lstStyle/>
            <a:p>
              <a:pPr algn="l">
                <a:lnSpc>
                  <a:spcPts val="1889"/>
                </a:lnSpc>
              </a:pPr>
              <a:r>
                <a:rPr lang="en-US" sz="1350" spc="162" b="true">
                  <a:solidFill>
                    <a:srgbClr val="FFFFFF"/>
                  </a:solidFill>
                  <a:latin typeface="Noto Sans Bold"/>
                  <a:ea typeface="Noto Sans Bold"/>
                  <a:cs typeface="Noto Sans Bold"/>
                  <a:sym typeface="Noto Sans Bold"/>
                </a:rPr>
                <a:t>NỢ → THU → ĐỐI SOÁT</a:t>
              </a:r>
            </a:p>
          </p:txBody>
        </p:sp>
      </p:grpSp>
      <p:sp>
        <p:nvSpPr>
          <p:cNvPr name="TextBox 24" id="24"/>
          <p:cNvSpPr txBox="true"/>
          <p:nvPr/>
        </p:nvSpPr>
        <p:spPr>
          <a:xfrm rot="0">
            <a:off x="2095500" y="6543675"/>
            <a:ext cx="14097000" cy="802005"/>
          </a:xfrm>
          <a:prstGeom prst="rect">
            <a:avLst/>
          </a:prstGeom>
        </p:spPr>
        <p:txBody>
          <a:bodyPr anchor="t" rtlCol="false" tIns="0" lIns="0" bIns="0" rIns="0">
            <a:spAutoFit/>
          </a:bodyPr>
          <a:lstStyle/>
          <a:p>
            <a:pPr algn="ctr">
              <a:lnSpc>
                <a:spcPts val="3240"/>
              </a:lnSpc>
            </a:pPr>
            <a:r>
              <a:rPr lang="en-US" sz="2400">
                <a:solidFill>
                  <a:srgbClr val="D4E0E5"/>
                </a:solidFill>
                <a:latin typeface="Noto Sans"/>
                <a:ea typeface="Noto Sans"/>
                <a:cs typeface="Noto Sans"/>
                <a:sym typeface="Noto Sans"/>
              </a:rPr>
              <a:t>Tìm theo mã đại lý hoặc phiếu. Theo dõi tiền trả, tiền còn nợ, lịch sử đơn hàng; lập phiếu với tổng nợ phát sinh, trả trước, ghi chú kỳ nợ và hạn mức.</a:t>
            </a:r>
          </a:p>
        </p:txBody>
      </p:sp>
      <p:grpSp>
        <p:nvGrpSpPr>
          <p:cNvPr name="Group 25" id="25"/>
          <p:cNvGrpSpPr/>
          <p:nvPr/>
        </p:nvGrpSpPr>
        <p:grpSpPr>
          <a:xfrm rot="0">
            <a:off x="990600" y="9696450"/>
            <a:ext cx="16249650" cy="228600"/>
            <a:chOff x="0" y="0"/>
            <a:chExt cx="21666200" cy="304800"/>
          </a:xfrm>
        </p:grpSpPr>
        <p:sp>
          <p:nvSpPr>
            <p:cNvPr name="TextBox 26" id="26"/>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55D6BE"/>
                  </a:solidFill>
                  <a:latin typeface="Noto Sans Bold"/>
                  <a:ea typeface="Noto Sans Bold"/>
                  <a:cs typeface="Noto Sans Bold"/>
                  <a:sym typeface="Noto Sans Bold"/>
                </a:rPr>
                <a:t>BOOKFLOW  •  ĐỒ ÁN ỨNG DỤNG DI ĐỘNG</a:t>
              </a:r>
            </a:p>
          </p:txBody>
        </p:sp>
        <p:sp>
          <p:nvSpPr>
            <p:cNvPr name="TextBox 27" id="27"/>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FFFFFF"/>
                  </a:solidFill>
                  <a:latin typeface="Noto Sans Bold"/>
                  <a:ea typeface="Noto Sans Bold"/>
                  <a:cs typeface="Noto Sans Bold"/>
                  <a:sym typeface="Noto Sans Bold"/>
                </a:rPr>
                <a:t>14</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14 — BÁO CÁO DOANH THU &amp; THỐNG KÊ</a:t>
              </a:r>
            </a:p>
          </p:txBody>
        </p:sp>
        <p:sp>
          <p:nvSpPr>
            <p:cNvPr name="TextBox 4" id="4"/>
            <p:cNvSpPr txBox="true"/>
            <p:nvPr/>
          </p:nvSpPr>
          <p:spPr>
            <a:xfrm rot="0">
              <a:off x="0" y="577850"/>
              <a:ext cx="19050000" cy="756920"/>
            </a:xfrm>
            <a:prstGeom prst="rect">
              <a:avLst/>
            </a:prstGeom>
          </p:spPr>
          <p:txBody>
            <a:bodyPr anchor="t" rtlCol="false" tIns="0" lIns="0" bIns="0" rIns="0">
              <a:spAutoFit/>
            </a:bodyPr>
            <a:lstStyle/>
            <a:p>
              <a:pPr algn="l">
                <a:lnSpc>
                  <a:spcPts val="4252"/>
                </a:lnSpc>
              </a:pPr>
              <a:r>
                <a:rPr lang="en-US" sz="4050" b="true">
                  <a:solidFill>
                    <a:srgbClr val="102B3F"/>
                  </a:solidFill>
                  <a:latin typeface="Be Vietnam Ultra-Bold"/>
                  <a:ea typeface="Be Vietnam Ultra-Bold"/>
                  <a:cs typeface="Be Vietnam Ultra-Bold"/>
                  <a:sym typeface="Be Vietnam Ultra-Bold"/>
                </a:rPr>
                <a:t>Doanh thu được cộng dồn, đối soát trong một màn hình</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pic>
        <p:nvPicPr>
          <p:cNvPr name="Picture 6" id="6"/>
          <p:cNvPicPr>
            <a:picLocks noChangeAspect="true"/>
          </p:cNvPicPr>
          <p:nvPr/>
        </p:nvPicPr>
        <p:blipFill>
          <a:blip r:embed="rId2"/>
          <a:stretch>
            <a:fillRect/>
          </a:stretch>
        </p:blipFill>
        <p:spPr>
          <a:xfrm rot="0">
            <a:off x="44007" y="1555398"/>
            <a:ext cx="12961236" cy="8223955"/>
          </a:xfrm>
          <a:prstGeom prst="rect">
            <a:avLst/>
          </a:prstGeom>
        </p:spPr>
      </p:pic>
      <p:sp>
        <p:nvSpPr>
          <p:cNvPr name="TextBox 7" id="7"/>
          <p:cNvSpPr txBox="true"/>
          <p:nvPr/>
        </p:nvSpPr>
        <p:spPr>
          <a:xfrm rot="0">
            <a:off x="12954000" y="3038475"/>
            <a:ext cx="4095750" cy="850582"/>
          </a:xfrm>
          <a:prstGeom prst="rect">
            <a:avLst/>
          </a:prstGeom>
        </p:spPr>
        <p:txBody>
          <a:bodyPr anchor="t" rtlCol="false" tIns="0" lIns="0" bIns="0" rIns="0">
            <a:spAutoFit/>
          </a:bodyPr>
          <a:lstStyle/>
          <a:p>
            <a:pPr algn="l">
              <a:lnSpc>
                <a:spcPts val="6457"/>
              </a:lnSpc>
            </a:pPr>
            <a:r>
              <a:rPr lang="en-US" sz="6150" b="true">
                <a:solidFill>
                  <a:srgbClr val="168AAD"/>
                </a:solidFill>
                <a:latin typeface="Be Vietnam Ultra-Bold"/>
                <a:ea typeface="Be Vietnam Ultra-Bold"/>
                <a:cs typeface="Be Vietnam Ultra-Bold"/>
                <a:sym typeface="Be Vietnam Ultra-Bold"/>
              </a:rPr>
              <a:t>326 tr</a:t>
            </a:r>
          </a:p>
        </p:txBody>
      </p:sp>
      <p:sp>
        <p:nvSpPr>
          <p:cNvPr name="TextBox 8" id="8"/>
          <p:cNvSpPr txBox="true"/>
          <p:nvPr/>
        </p:nvSpPr>
        <p:spPr>
          <a:xfrm rot="0">
            <a:off x="12954000" y="3886200"/>
            <a:ext cx="4095750" cy="230505"/>
          </a:xfrm>
          <a:prstGeom prst="rect">
            <a:avLst/>
          </a:prstGeom>
        </p:spPr>
        <p:txBody>
          <a:bodyPr anchor="t" rtlCol="false" tIns="0" lIns="0" bIns="0" rIns="0">
            <a:spAutoFit/>
          </a:bodyPr>
          <a:lstStyle/>
          <a:p>
            <a:pPr algn="l">
              <a:lnSpc>
                <a:spcPts val="1995"/>
              </a:lnSpc>
            </a:pPr>
            <a:r>
              <a:rPr lang="en-US" sz="1425" spc="171" b="true">
                <a:solidFill>
                  <a:srgbClr val="6D7B82"/>
                </a:solidFill>
                <a:latin typeface="Noto Sans Bold"/>
                <a:ea typeface="Noto Sans Bold"/>
                <a:cs typeface="Noto Sans Bold"/>
                <a:sym typeface="Noto Sans Bold"/>
              </a:rPr>
              <a:t>TỔNG DOANH THU</a:t>
            </a:r>
          </a:p>
        </p:txBody>
      </p:sp>
      <p:sp>
        <p:nvSpPr>
          <p:cNvPr name="TextBox 9" id="9"/>
          <p:cNvSpPr txBox="true"/>
          <p:nvPr/>
        </p:nvSpPr>
        <p:spPr>
          <a:xfrm rot="0">
            <a:off x="12954000" y="5391150"/>
            <a:ext cx="1714500" cy="553402"/>
          </a:xfrm>
          <a:prstGeom prst="rect">
            <a:avLst/>
          </a:prstGeom>
        </p:spPr>
        <p:txBody>
          <a:bodyPr anchor="t" rtlCol="false" tIns="0" lIns="0" bIns="0" rIns="0">
            <a:spAutoFit/>
          </a:bodyPr>
          <a:lstStyle/>
          <a:p>
            <a:pPr algn="l">
              <a:lnSpc>
                <a:spcPts val="4252"/>
              </a:lnSpc>
            </a:pPr>
            <a:r>
              <a:rPr lang="en-US" sz="4050" b="true">
                <a:solidFill>
                  <a:srgbClr val="102B3F"/>
                </a:solidFill>
                <a:latin typeface="Be Vietnam Ultra-Bold"/>
                <a:ea typeface="Be Vietnam Ultra-Bold"/>
                <a:cs typeface="Be Vietnam Ultra-Bold"/>
                <a:sym typeface="Be Vietnam Ultra-Bold"/>
              </a:rPr>
              <a:t>128</a:t>
            </a:r>
          </a:p>
        </p:txBody>
      </p:sp>
      <p:sp>
        <p:nvSpPr>
          <p:cNvPr name="TextBox 10" id="10"/>
          <p:cNvSpPr txBox="true"/>
          <p:nvPr/>
        </p:nvSpPr>
        <p:spPr>
          <a:xfrm rot="0">
            <a:off x="12954000" y="5972175"/>
            <a:ext cx="2190750" cy="215265"/>
          </a:xfrm>
          <a:prstGeom prst="rect">
            <a:avLst/>
          </a:prstGeom>
        </p:spPr>
        <p:txBody>
          <a:bodyPr anchor="t" rtlCol="false" tIns="0" lIns="0" bIns="0" rIns="0">
            <a:spAutoFit/>
          </a:bodyPr>
          <a:lstStyle/>
          <a:p>
            <a:pPr algn="l">
              <a:lnSpc>
                <a:spcPts val="1784"/>
              </a:lnSpc>
            </a:pPr>
            <a:r>
              <a:rPr lang="en-US" sz="1275" spc="152" b="true">
                <a:solidFill>
                  <a:srgbClr val="6D7B82"/>
                </a:solidFill>
                <a:latin typeface="Noto Sans Bold"/>
                <a:ea typeface="Noto Sans Bold"/>
                <a:cs typeface="Noto Sans Bold"/>
                <a:sym typeface="Noto Sans Bold"/>
              </a:rPr>
              <a:t>TỔNG ĐƠN</a:t>
            </a:r>
          </a:p>
        </p:txBody>
      </p:sp>
      <p:sp>
        <p:nvSpPr>
          <p:cNvPr name="TextBox 11" id="11"/>
          <p:cNvSpPr txBox="true"/>
          <p:nvPr/>
        </p:nvSpPr>
        <p:spPr>
          <a:xfrm rot="0">
            <a:off x="15240000" y="5391150"/>
            <a:ext cx="1714500" cy="553402"/>
          </a:xfrm>
          <a:prstGeom prst="rect">
            <a:avLst/>
          </a:prstGeom>
        </p:spPr>
        <p:txBody>
          <a:bodyPr anchor="t" rtlCol="false" tIns="0" lIns="0" bIns="0" rIns="0">
            <a:spAutoFit/>
          </a:bodyPr>
          <a:lstStyle/>
          <a:p>
            <a:pPr algn="l">
              <a:lnSpc>
                <a:spcPts val="4252"/>
              </a:lnSpc>
            </a:pPr>
            <a:r>
              <a:rPr lang="en-US" sz="4050" b="true">
                <a:solidFill>
                  <a:srgbClr val="55D6BE"/>
                </a:solidFill>
                <a:latin typeface="Be Vietnam Ultra-Bold"/>
                <a:ea typeface="Be Vietnam Ultra-Bold"/>
                <a:cs typeface="Be Vietnam Ultra-Bold"/>
                <a:sym typeface="Be Vietnam Ultra-Bold"/>
              </a:rPr>
              <a:t>82</a:t>
            </a:r>
          </a:p>
        </p:txBody>
      </p:sp>
      <p:sp>
        <p:nvSpPr>
          <p:cNvPr name="TextBox 12" id="12"/>
          <p:cNvSpPr txBox="true"/>
          <p:nvPr/>
        </p:nvSpPr>
        <p:spPr>
          <a:xfrm rot="0">
            <a:off x="15240000" y="5972175"/>
            <a:ext cx="2095500" cy="215265"/>
          </a:xfrm>
          <a:prstGeom prst="rect">
            <a:avLst/>
          </a:prstGeom>
        </p:spPr>
        <p:txBody>
          <a:bodyPr anchor="t" rtlCol="false" tIns="0" lIns="0" bIns="0" rIns="0">
            <a:spAutoFit/>
          </a:bodyPr>
          <a:lstStyle/>
          <a:p>
            <a:pPr algn="l">
              <a:lnSpc>
                <a:spcPts val="1784"/>
              </a:lnSpc>
            </a:pPr>
            <a:r>
              <a:rPr lang="en-US" sz="1275" spc="152" b="true">
                <a:solidFill>
                  <a:srgbClr val="6D7B82"/>
                </a:solidFill>
                <a:latin typeface="Noto Sans Bold"/>
                <a:ea typeface="Noto Sans Bold"/>
                <a:cs typeface="Noto Sans Bold"/>
                <a:sym typeface="Noto Sans Bold"/>
              </a:rPr>
              <a:t>ĐÃ THANH TOÁN</a:t>
            </a:r>
          </a:p>
        </p:txBody>
      </p:sp>
      <p:sp>
        <p:nvSpPr>
          <p:cNvPr name="TextBox 13" id="13"/>
          <p:cNvSpPr txBox="true"/>
          <p:nvPr/>
        </p:nvSpPr>
        <p:spPr>
          <a:xfrm rot="0">
            <a:off x="12954000" y="7400925"/>
            <a:ext cx="4095750" cy="273367"/>
          </a:xfrm>
          <a:prstGeom prst="rect">
            <a:avLst/>
          </a:prstGeom>
        </p:spPr>
        <p:txBody>
          <a:bodyPr anchor="t" rtlCol="false" tIns="0" lIns="0" bIns="0" rIns="0">
            <a:spAutoFit/>
          </a:bodyPr>
          <a:lstStyle/>
          <a:p>
            <a:pPr algn="l">
              <a:lnSpc>
                <a:spcPts val="2227"/>
              </a:lnSpc>
            </a:pPr>
            <a:r>
              <a:rPr lang="en-US" sz="1650">
                <a:solidFill>
                  <a:srgbClr val="102B3F"/>
                </a:solidFill>
                <a:latin typeface="Noto Sans"/>
                <a:ea typeface="Noto Sans"/>
                <a:cs typeface="Noto Sans"/>
                <a:sym typeface="Noto Sans"/>
              </a:rPr>
              <a:t>Bộ lọc: Theo tháng  /  Toàn thời gian</a:t>
            </a:r>
          </a:p>
        </p:txBody>
      </p:sp>
      <p:grpSp>
        <p:nvGrpSpPr>
          <p:cNvPr name="Group 14" id="14"/>
          <p:cNvGrpSpPr/>
          <p:nvPr/>
        </p:nvGrpSpPr>
        <p:grpSpPr>
          <a:xfrm rot="0">
            <a:off x="990600" y="9696450"/>
            <a:ext cx="16249650" cy="228600"/>
            <a:chOff x="0" y="0"/>
            <a:chExt cx="21666200" cy="304800"/>
          </a:xfrm>
        </p:grpSpPr>
        <p:sp>
          <p:nvSpPr>
            <p:cNvPr name="TextBox 15" id="15"/>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16" id="16"/>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15</a:t>
              </a:r>
            </a:p>
          </p:txBody>
        </p:sp>
      </p:grpSp>
    </p:spTree>
  </p:cSld>
  <p:clrMapOvr>
    <a:masterClrMapping/>
  </p:clrMapOvr>
</p:sld>
</file>

<file path=ppt/slides/slide16.xml><?xml version="1.0" encoding="utf-8"?>
<p:sld xmlns:p="http://schemas.openxmlformats.org/presentationml/2006/main" xmlns:a="http://schemas.openxmlformats.org/drawingml/2006/main">
  <p:cSld>
    <p:bg>
      <p:bgPr>
        <a:solidFill>
          <a:srgbClr val="F5F1E8"/>
        </a:solidFill>
      </p:bgPr>
    </p:bg>
    <p:spTree>
      <p:nvGrpSpPr>
        <p:cNvPr id="1" name=""/>
        <p:cNvGrpSpPr/>
        <p:nvPr/>
      </p:nvGrpSpPr>
      <p:grpSpPr>
        <a:xfrm>
          <a:off x="0" y="0"/>
          <a:ext cx="0" cy="0"/>
          <a:chOff x="0" y="0"/>
          <a:chExt cx="0" cy="0"/>
        </a:xfrm>
      </p:grpSpPr>
      <p:grpSp>
        <p:nvGrpSpPr>
          <p:cNvPr name="Group 2" id="2"/>
          <p:cNvGrpSpPr/>
          <p:nvPr/>
        </p:nvGrpSpPr>
        <p:grpSpPr>
          <a:xfrm rot="0">
            <a:off x="990600" y="609600"/>
            <a:ext cx="16306800" cy="1209675"/>
            <a:chOff x="0" y="0"/>
            <a:chExt cx="21742400" cy="1612900"/>
          </a:xfrm>
        </p:grpSpPr>
        <p:sp>
          <p:nvSpPr>
            <p:cNvPr name="TextBox 3" id="3"/>
            <p:cNvSpPr txBox="true"/>
            <p:nvPr/>
          </p:nvSpPr>
          <p:spPr>
            <a:xfrm rot="0">
              <a:off x="0" y="-28575"/>
              <a:ext cx="11430000" cy="333375"/>
            </a:xfrm>
            <a:prstGeom prst="rect">
              <a:avLst/>
            </a:prstGeom>
          </p:spPr>
          <p:txBody>
            <a:bodyPr anchor="t" rtlCol="false" tIns="0" lIns="0" bIns="0" rIns="0">
              <a:spAutoFit/>
            </a:bodyPr>
            <a:lstStyle/>
            <a:p>
              <a:pPr algn="l">
                <a:lnSpc>
                  <a:spcPts val="2100"/>
                </a:lnSpc>
              </a:pPr>
              <a:r>
                <a:rPr lang="en-US" sz="1500" spc="179" b="true">
                  <a:solidFill>
                    <a:srgbClr val="168AAD"/>
                  </a:solidFill>
                  <a:latin typeface="Noto Sans Bold"/>
                  <a:ea typeface="Noto Sans Bold"/>
                  <a:cs typeface="Noto Sans Bold"/>
                  <a:sym typeface="Noto Sans Bold"/>
                </a:rPr>
                <a:t>15 — ĐÁNH GIÁ KẾT QUẢ KIỂM THỬ</a:t>
              </a:r>
            </a:p>
          </p:txBody>
        </p:sp>
        <p:sp>
          <p:nvSpPr>
            <p:cNvPr name="TextBox 4" id="4"/>
            <p:cNvSpPr txBox="true"/>
            <p:nvPr/>
          </p:nvSpPr>
          <p:spPr>
            <a:xfrm rot="0">
              <a:off x="0" y="587375"/>
              <a:ext cx="19050000" cy="805815"/>
            </a:xfrm>
            <a:prstGeom prst="rect">
              <a:avLst/>
            </a:prstGeom>
          </p:spPr>
          <p:txBody>
            <a:bodyPr anchor="t" rtlCol="false" tIns="0" lIns="0" bIns="0" rIns="0">
              <a:spAutoFit/>
            </a:bodyPr>
            <a:lstStyle/>
            <a:p>
              <a:pPr algn="l">
                <a:lnSpc>
                  <a:spcPts val="4567"/>
                </a:lnSpc>
              </a:pPr>
              <a:r>
                <a:rPr lang="en-US" sz="4350" b="true">
                  <a:solidFill>
                    <a:srgbClr val="102B3F"/>
                  </a:solidFill>
                  <a:latin typeface="Be Vietnam Ultra-Bold"/>
                  <a:ea typeface="Be Vietnam Ultra-Bold"/>
                  <a:cs typeface="Be Vietnam Ultra-Bold"/>
                  <a:sym typeface="Be Vietnam Ultra-Bold"/>
                </a:rPr>
                <a:t>Kiểm thử từ hàm tính đến giao dịch đồng thời</a:t>
              </a:r>
            </a:p>
          </p:txBody>
        </p:sp>
        <p:sp>
          <p:nvSpPr>
            <p:cNvPr name="AutoShape 5" id="5"/>
            <p:cNvSpPr/>
            <p:nvPr/>
          </p:nvSpPr>
          <p:spPr>
            <a:xfrm>
              <a:off x="0" y="1600200"/>
              <a:ext cx="21742400" cy="0"/>
            </a:xfrm>
            <a:prstGeom prst="line">
              <a:avLst/>
            </a:prstGeom>
            <a:ln cap="flat" w="25400">
              <a:solidFill>
                <a:srgbClr val="CBD4D0"/>
              </a:solidFill>
              <a:prstDash val="solid"/>
              <a:headEnd type="none" len="sm" w="sm"/>
              <a:tailEnd type="none" len="sm" w="sm"/>
            </a:ln>
          </p:spPr>
        </p:sp>
      </p:grpSp>
      <p:grpSp>
        <p:nvGrpSpPr>
          <p:cNvPr name="Group 6" id="6"/>
          <p:cNvGrpSpPr/>
          <p:nvPr/>
        </p:nvGrpSpPr>
        <p:grpSpPr>
          <a:xfrm rot="0">
            <a:off x="1047750" y="2762250"/>
            <a:ext cx="5048250" cy="2381250"/>
            <a:chOff x="0" y="0"/>
            <a:chExt cx="6731000" cy="3175000"/>
          </a:xfrm>
        </p:grpSpPr>
        <p:grpSp>
          <p:nvGrpSpPr>
            <p:cNvPr name="Group 7" id="7"/>
            <p:cNvGrpSpPr/>
            <p:nvPr/>
          </p:nvGrpSpPr>
          <p:grpSpPr>
            <a:xfrm rot="0">
              <a:off x="0" y="0"/>
              <a:ext cx="6731000" cy="3175000"/>
              <a:chOff x="0" y="0"/>
              <a:chExt cx="6731000" cy="3175000"/>
            </a:xfrm>
          </p:grpSpPr>
          <p:sp>
            <p:nvSpPr>
              <p:cNvPr name="Freeform 8" id="8"/>
              <p:cNvSpPr/>
              <p:nvPr/>
            </p:nvSpPr>
            <p:spPr>
              <a:xfrm flipH="false" flipV="false" rot="0">
                <a:off x="0" y="0"/>
                <a:ext cx="6731000" cy="3175000"/>
              </a:xfrm>
              <a:custGeom>
                <a:avLst/>
                <a:gdLst/>
                <a:ahLst/>
                <a:cxnLst/>
                <a:rect r="r" b="b" t="t" l="l"/>
                <a:pathLst>
                  <a:path h="3175000" w="6731000">
                    <a:moveTo>
                      <a:pt x="0" y="0"/>
                    </a:moveTo>
                    <a:lnTo>
                      <a:pt x="6731000" y="0"/>
                    </a:lnTo>
                    <a:lnTo>
                      <a:pt x="6731000" y="3175000"/>
                    </a:lnTo>
                    <a:lnTo>
                      <a:pt x="0" y="3175000"/>
                    </a:lnTo>
                    <a:close/>
                  </a:path>
                </a:pathLst>
              </a:custGeom>
              <a:solidFill>
                <a:srgbClr val="DFF4EE"/>
              </a:solidFill>
              <a:ln cap="sq">
                <a:noFill/>
                <a:prstDash val="solid"/>
                <a:miter/>
              </a:ln>
            </p:spPr>
          </p:sp>
          <p:sp>
            <p:nvSpPr>
              <p:cNvPr name="TextBox 9" id="9"/>
              <p:cNvSpPr txBox="true"/>
              <p:nvPr/>
            </p:nvSpPr>
            <p:spPr>
              <a:xfrm>
                <a:off x="0" y="-38100"/>
                <a:ext cx="6731000" cy="3213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482600" y="495300"/>
              <a:ext cx="5715000" cy="363220"/>
            </a:xfrm>
            <a:prstGeom prst="rect">
              <a:avLst/>
            </a:prstGeom>
          </p:spPr>
          <p:txBody>
            <a:bodyPr anchor="t" rtlCol="false" tIns="0" lIns="0" bIns="0" rIns="0">
              <a:spAutoFit/>
            </a:bodyPr>
            <a:lstStyle/>
            <a:p>
              <a:pPr algn="l">
                <a:lnSpc>
                  <a:spcPts val="2310"/>
                </a:lnSpc>
              </a:pPr>
              <a:r>
                <a:rPr lang="en-US" sz="1650" spc="198" b="true">
                  <a:solidFill>
                    <a:srgbClr val="168AAD"/>
                  </a:solidFill>
                  <a:latin typeface="Noto Sans Bold"/>
                  <a:ea typeface="Noto Sans Bold"/>
                  <a:cs typeface="Noto Sans Bold"/>
                  <a:sym typeface="Noto Sans Bold"/>
                </a:rPr>
                <a:t>UNIT</a:t>
              </a:r>
            </a:p>
          </p:txBody>
        </p:sp>
        <p:sp>
          <p:nvSpPr>
            <p:cNvPr name="TextBox 11" id="11"/>
            <p:cNvSpPr txBox="true"/>
            <p:nvPr/>
          </p:nvSpPr>
          <p:spPr>
            <a:xfrm rot="0">
              <a:off x="482600" y="1362075"/>
              <a:ext cx="5715000" cy="451485"/>
            </a:xfrm>
            <a:prstGeom prst="rect">
              <a:avLst/>
            </a:prstGeom>
          </p:spPr>
          <p:txBody>
            <a:bodyPr anchor="t" rtlCol="false" tIns="0" lIns="0" bIns="0" rIns="0">
              <a:spAutoFit/>
            </a:bodyPr>
            <a:lstStyle/>
            <a:p>
              <a:pPr algn="l">
                <a:lnSpc>
                  <a:spcPts val="2520"/>
                </a:lnSpc>
              </a:pPr>
              <a:r>
                <a:rPr lang="en-US" sz="2400" b="true">
                  <a:solidFill>
                    <a:srgbClr val="102B3F"/>
                  </a:solidFill>
                  <a:latin typeface="Be Vietnam Ultra-Bold"/>
                  <a:ea typeface="Be Vietnam Ultra-Bold"/>
                  <a:cs typeface="Be Vietnam Ultra-Bold"/>
                  <a:sym typeface="Be Vietnam Ultra-Bold"/>
                </a:rPr>
                <a:t>Hàm tính tài chính</a:t>
              </a:r>
            </a:p>
          </p:txBody>
        </p:sp>
      </p:grpSp>
      <p:grpSp>
        <p:nvGrpSpPr>
          <p:cNvPr name="Group 12" id="12"/>
          <p:cNvGrpSpPr/>
          <p:nvPr/>
        </p:nvGrpSpPr>
        <p:grpSpPr>
          <a:xfrm rot="0">
            <a:off x="6572250" y="2762250"/>
            <a:ext cx="5048250" cy="2381250"/>
            <a:chOff x="0" y="0"/>
            <a:chExt cx="6731000" cy="3175000"/>
          </a:xfrm>
        </p:grpSpPr>
        <p:grpSp>
          <p:nvGrpSpPr>
            <p:cNvPr name="Group 13" id="13"/>
            <p:cNvGrpSpPr/>
            <p:nvPr/>
          </p:nvGrpSpPr>
          <p:grpSpPr>
            <a:xfrm rot="0">
              <a:off x="0" y="0"/>
              <a:ext cx="6731000" cy="3175000"/>
              <a:chOff x="0" y="0"/>
              <a:chExt cx="6731000" cy="3175000"/>
            </a:xfrm>
          </p:grpSpPr>
          <p:sp>
            <p:nvSpPr>
              <p:cNvPr name="Freeform 14" id="14"/>
              <p:cNvSpPr/>
              <p:nvPr/>
            </p:nvSpPr>
            <p:spPr>
              <a:xfrm flipH="false" flipV="false" rot="0">
                <a:off x="0" y="0"/>
                <a:ext cx="6731000" cy="3175000"/>
              </a:xfrm>
              <a:custGeom>
                <a:avLst/>
                <a:gdLst/>
                <a:ahLst/>
                <a:cxnLst/>
                <a:rect r="r" b="b" t="t" l="l"/>
                <a:pathLst>
                  <a:path h="3175000" w="6731000">
                    <a:moveTo>
                      <a:pt x="0" y="0"/>
                    </a:moveTo>
                    <a:lnTo>
                      <a:pt x="6731000" y="0"/>
                    </a:lnTo>
                    <a:lnTo>
                      <a:pt x="6731000" y="3175000"/>
                    </a:lnTo>
                    <a:lnTo>
                      <a:pt x="0" y="3175000"/>
                    </a:lnTo>
                    <a:close/>
                  </a:path>
                </a:pathLst>
              </a:custGeom>
              <a:solidFill>
                <a:srgbClr val="DCEAF2"/>
              </a:solidFill>
              <a:ln cap="sq">
                <a:noFill/>
                <a:prstDash val="solid"/>
                <a:miter/>
              </a:ln>
            </p:spPr>
          </p:sp>
          <p:sp>
            <p:nvSpPr>
              <p:cNvPr name="TextBox 15" id="15"/>
              <p:cNvSpPr txBox="true"/>
              <p:nvPr/>
            </p:nvSpPr>
            <p:spPr>
              <a:xfrm>
                <a:off x="0" y="-38100"/>
                <a:ext cx="6731000" cy="3213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482600" y="495300"/>
              <a:ext cx="5715000" cy="363220"/>
            </a:xfrm>
            <a:prstGeom prst="rect">
              <a:avLst/>
            </a:prstGeom>
          </p:spPr>
          <p:txBody>
            <a:bodyPr anchor="t" rtlCol="false" tIns="0" lIns="0" bIns="0" rIns="0">
              <a:spAutoFit/>
            </a:bodyPr>
            <a:lstStyle/>
            <a:p>
              <a:pPr algn="l">
                <a:lnSpc>
                  <a:spcPts val="2310"/>
                </a:lnSpc>
              </a:pPr>
              <a:r>
                <a:rPr lang="en-US" sz="1650" spc="198" b="true">
                  <a:solidFill>
                    <a:srgbClr val="168AAD"/>
                  </a:solidFill>
                  <a:latin typeface="Noto Sans Bold"/>
                  <a:ea typeface="Noto Sans Bold"/>
                  <a:cs typeface="Noto Sans Bold"/>
                  <a:sym typeface="Noto Sans Bold"/>
                </a:rPr>
                <a:t>INTEGRATION</a:t>
              </a:r>
            </a:p>
          </p:txBody>
        </p:sp>
        <p:sp>
          <p:nvSpPr>
            <p:cNvPr name="TextBox 17" id="17"/>
            <p:cNvSpPr txBox="true"/>
            <p:nvPr/>
          </p:nvSpPr>
          <p:spPr>
            <a:xfrm rot="0">
              <a:off x="482600" y="1362075"/>
              <a:ext cx="5715000" cy="451485"/>
            </a:xfrm>
            <a:prstGeom prst="rect">
              <a:avLst/>
            </a:prstGeom>
          </p:spPr>
          <p:txBody>
            <a:bodyPr anchor="t" rtlCol="false" tIns="0" lIns="0" bIns="0" rIns="0">
              <a:spAutoFit/>
            </a:bodyPr>
            <a:lstStyle/>
            <a:p>
              <a:pPr algn="l">
                <a:lnSpc>
                  <a:spcPts val="2520"/>
                </a:lnSpc>
              </a:pPr>
              <a:r>
                <a:rPr lang="en-US" sz="2400" b="true">
                  <a:solidFill>
                    <a:srgbClr val="102B3F"/>
                  </a:solidFill>
                  <a:latin typeface="Be Vietnam Ultra-Bold"/>
                  <a:ea typeface="Be Vietnam Ultra-Bold"/>
                  <a:cs typeface="Be Vietnam Ultra-Bold"/>
                  <a:sym typeface="Be Vietnam Ultra-Bold"/>
                </a:rPr>
                <a:t>Android ↔ Spring Boot</a:t>
              </a:r>
            </a:p>
          </p:txBody>
        </p:sp>
      </p:grpSp>
      <p:grpSp>
        <p:nvGrpSpPr>
          <p:cNvPr name="Group 18" id="18"/>
          <p:cNvGrpSpPr/>
          <p:nvPr/>
        </p:nvGrpSpPr>
        <p:grpSpPr>
          <a:xfrm rot="0">
            <a:off x="12096750" y="2762250"/>
            <a:ext cx="5048250" cy="2381250"/>
            <a:chOff x="0" y="0"/>
            <a:chExt cx="6731000" cy="3175000"/>
          </a:xfrm>
        </p:grpSpPr>
        <p:grpSp>
          <p:nvGrpSpPr>
            <p:cNvPr name="Group 19" id="19"/>
            <p:cNvGrpSpPr/>
            <p:nvPr/>
          </p:nvGrpSpPr>
          <p:grpSpPr>
            <a:xfrm rot="0">
              <a:off x="0" y="0"/>
              <a:ext cx="6731000" cy="3175000"/>
              <a:chOff x="0" y="0"/>
              <a:chExt cx="6731000" cy="3175000"/>
            </a:xfrm>
          </p:grpSpPr>
          <p:sp>
            <p:nvSpPr>
              <p:cNvPr name="Freeform 20" id="20"/>
              <p:cNvSpPr/>
              <p:nvPr/>
            </p:nvSpPr>
            <p:spPr>
              <a:xfrm flipH="false" flipV="false" rot="0">
                <a:off x="0" y="0"/>
                <a:ext cx="6731000" cy="3175000"/>
              </a:xfrm>
              <a:custGeom>
                <a:avLst/>
                <a:gdLst/>
                <a:ahLst/>
                <a:cxnLst/>
                <a:rect r="r" b="b" t="t" l="l"/>
                <a:pathLst>
                  <a:path h="3175000" w="6731000">
                    <a:moveTo>
                      <a:pt x="0" y="0"/>
                    </a:moveTo>
                    <a:lnTo>
                      <a:pt x="6731000" y="0"/>
                    </a:lnTo>
                    <a:lnTo>
                      <a:pt x="6731000" y="3175000"/>
                    </a:lnTo>
                    <a:lnTo>
                      <a:pt x="0" y="3175000"/>
                    </a:lnTo>
                    <a:close/>
                  </a:path>
                </a:pathLst>
              </a:custGeom>
              <a:solidFill>
                <a:srgbClr val="FFF0CF"/>
              </a:solidFill>
              <a:ln cap="sq">
                <a:noFill/>
                <a:prstDash val="solid"/>
                <a:miter/>
              </a:ln>
            </p:spPr>
          </p:sp>
          <p:sp>
            <p:nvSpPr>
              <p:cNvPr name="TextBox 21" id="21"/>
              <p:cNvSpPr txBox="true"/>
              <p:nvPr/>
            </p:nvSpPr>
            <p:spPr>
              <a:xfrm>
                <a:off x="0" y="-38100"/>
                <a:ext cx="6731000" cy="3213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482600" y="495300"/>
              <a:ext cx="5715000" cy="363220"/>
            </a:xfrm>
            <a:prstGeom prst="rect">
              <a:avLst/>
            </a:prstGeom>
          </p:spPr>
          <p:txBody>
            <a:bodyPr anchor="t" rtlCol="false" tIns="0" lIns="0" bIns="0" rIns="0">
              <a:spAutoFit/>
            </a:bodyPr>
            <a:lstStyle/>
            <a:p>
              <a:pPr algn="l">
                <a:lnSpc>
                  <a:spcPts val="2310"/>
                </a:lnSpc>
              </a:pPr>
              <a:r>
                <a:rPr lang="en-US" sz="1650" spc="198" b="true">
                  <a:solidFill>
                    <a:srgbClr val="168AAD"/>
                  </a:solidFill>
                  <a:latin typeface="Noto Sans Bold"/>
                  <a:ea typeface="Noto Sans Bold"/>
                  <a:cs typeface="Noto Sans Bold"/>
                  <a:sym typeface="Noto Sans Bold"/>
                </a:rPr>
                <a:t>RESILIENCE</a:t>
              </a:r>
            </a:p>
          </p:txBody>
        </p:sp>
        <p:sp>
          <p:nvSpPr>
            <p:cNvPr name="TextBox 23" id="23"/>
            <p:cNvSpPr txBox="true"/>
            <p:nvPr/>
          </p:nvSpPr>
          <p:spPr>
            <a:xfrm rot="0">
              <a:off x="482600" y="1362075"/>
              <a:ext cx="5715000" cy="451485"/>
            </a:xfrm>
            <a:prstGeom prst="rect">
              <a:avLst/>
            </a:prstGeom>
          </p:spPr>
          <p:txBody>
            <a:bodyPr anchor="t" rtlCol="false" tIns="0" lIns="0" bIns="0" rIns="0">
              <a:spAutoFit/>
            </a:bodyPr>
            <a:lstStyle/>
            <a:p>
              <a:pPr algn="l">
                <a:lnSpc>
                  <a:spcPts val="2520"/>
                </a:lnSpc>
              </a:pPr>
              <a:r>
                <a:rPr lang="en-US" sz="2400" b="true">
                  <a:solidFill>
                    <a:srgbClr val="102B3F"/>
                  </a:solidFill>
                  <a:latin typeface="Be Vietnam Ultra-Bold"/>
                  <a:ea typeface="Be Vietnam Ultra-Bold"/>
                  <a:cs typeface="Be Vietnam Ultra-Bold"/>
                  <a:sym typeface="Be Vietnam Ultra-Bold"/>
                </a:rPr>
                <a:t>Retrofit &amp; lỗi mạng</a:t>
              </a:r>
            </a:p>
          </p:txBody>
        </p:sp>
      </p:grpSp>
      <p:grpSp>
        <p:nvGrpSpPr>
          <p:cNvPr name="Group 24" id="24"/>
          <p:cNvGrpSpPr/>
          <p:nvPr/>
        </p:nvGrpSpPr>
        <p:grpSpPr>
          <a:xfrm rot="0">
            <a:off x="1047750" y="5715000"/>
            <a:ext cx="5048250" cy="2381250"/>
            <a:chOff x="0" y="0"/>
            <a:chExt cx="6731000" cy="3175000"/>
          </a:xfrm>
        </p:grpSpPr>
        <p:grpSp>
          <p:nvGrpSpPr>
            <p:cNvPr name="Group 25" id="25"/>
            <p:cNvGrpSpPr/>
            <p:nvPr/>
          </p:nvGrpSpPr>
          <p:grpSpPr>
            <a:xfrm rot="0">
              <a:off x="0" y="0"/>
              <a:ext cx="6731000" cy="3175000"/>
              <a:chOff x="0" y="0"/>
              <a:chExt cx="6731000" cy="3175000"/>
            </a:xfrm>
          </p:grpSpPr>
          <p:sp>
            <p:nvSpPr>
              <p:cNvPr name="Freeform 26" id="26"/>
              <p:cNvSpPr/>
              <p:nvPr/>
            </p:nvSpPr>
            <p:spPr>
              <a:xfrm flipH="false" flipV="false" rot="0">
                <a:off x="0" y="0"/>
                <a:ext cx="6731000" cy="3175000"/>
              </a:xfrm>
              <a:custGeom>
                <a:avLst/>
                <a:gdLst/>
                <a:ahLst/>
                <a:cxnLst/>
                <a:rect r="r" b="b" t="t" l="l"/>
                <a:pathLst>
                  <a:path h="3175000" w="6731000">
                    <a:moveTo>
                      <a:pt x="0" y="0"/>
                    </a:moveTo>
                    <a:lnTo>
                      <a:pt x="6731000" y="0"/>
                    </a:lnTo>
                    <a:lnTo>
                      <a:pt x="6731000" y="3175000"/>
                    </a:lnTo>
                    <a:lnTo>
                      <a:pt x="0" y="3175000"/>
                    </a:lnTo>
                    <a:close/>
                  </a:path>
                </a:pathLst>
              </a:custGeom>
              <a:solidFill>
                <a:srgbClr val="FFE7DF"/>
              </a:solidFill>
              <a:ln cap="sq">
                <a:noFill/>
                <a:prstDash val="solid"/>
                <a:miter/>
              </a:ln>
            </p:spPr>
          </p:sp>
          <p:sp>
            <p:nvSpPr>
              <p:cNvPr name="TextBox 27" id="27"/>
              <p:cNvSpPr txBox="true"/>
              <p:nvPr/>
            </p:nvSpPr>
            <p:spPr>
              <a:xfrm>
                <a:off x="0" y="-38100"/>
                <a:ext cx="6731000" cy="3213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482600" y="495300"/>
              <a:ext cx="5715000" cy="363220"/>
            </a:xfrm>
            <a:prstGeom prst="rect">
              <a:avLst/>
            </a:prstGeom>
          </p:spPr>
          <p:txBody>
            <a:bodyPr anchor="t" rtlCol="false" tIns="0" lIns="0" bIns="0" rIns="0">
              <a:spAutoFit/>
            </a:bodyPr>
            <a:lstStyle/>
            <a:p>
              <a:pPr algn="l">
                <a:lnSpc>
                  <a:spcPts val="2310"/>
                </a:lnSpc>
              </a:pPr>
              <a:r>
                <a:rPr lang="en-US" sz="1650" spc="198" b="true">
                  <a:solidFill>
                    <a:srgbClr val="168AAD"/>
                  </a:solidFill>
                  <a:latin typeface="Noto Sans Bold"/>
                  <a:ea typeface="Noto Sans Bold"/>
                  <a:cs typeface="Noto Sans Bold"/>
                  <a:sym typeface="Noto Sans Bold"/>
                </a:rPr>
                <a:t>TRANSACTION</a:t>
              </a:r>
            </a:p>
          </p:txBody>
        </p:sp>
        <p:sp>
          <p:nvSpPr>
            <p:cNvPr name="TextBox 29" id="29"/>
            <p:cNvSpPr txBox="true"/>
            <p:nvPr/>
          </p:nvSpPr>
          <p:spPr>
            <a:xfrm rot="0">
              <a:off x="482600" y="1362075"/>
              <a:ext cx="5715000" cy="451485"/>
            </a:xfrm>
            <a:prstGeom prst="rect">
              <a:avLst/>
            </a:prstGeom>
          </p:spPr>
          <p:txBody>
            <a:bodyPr anchor="t" rtlCol="false" tIns="0" lIns="0" bIns="0" rIns="0">
              <a:spAutoFit/>
            </a:bodyPr>
            <a:lstStyle/>
            <a:p>
              <a:pPr algn="l">
                <a:lnSpc>
                  <a:spcPts val="2520"/>
                </a:lnSpc>
              </a:pPr>
              <a:r>
                <a:rPr lang="en-US" sz="2400" b="true">
                  <a:solidFill>
                    <a:srgbClr val="102B3F"/>
                  </a:solidFill>
                  <a:latin typeface="Be Vietnam Ultra-Bold"/>
                  <a:ea typeface="Be Vietnam Ultra-Bold"/>
                  <a:cs typeface="Be Vietnam Ultra-Bold"/>
                  <a:sym typeface="Be Vietnam Ultra-Bold"/>
                </a:rPr>
                <a:t>Đặt hàng • tồn • nợ</a:t>
              </a:r>
            </a:p>
          </p:txBody>
        </p:sp>
      </p:grpSp>
      <p:grpSp>
        <p:nvGrpSpPr>
          <p:cNvPr name="Group 30" id="30"/>
          <p:cNvGrpSpPr/>
          <p:nvPr/>
        </p:nvGrpSpPr>
        <p:grpSpPr>
          <a:xfrm rot="0">
            <a:off x="6572250" y="5715000"/>
            <a:ext cx="5048250" cy="2381250"/>
            <a:chOff x="0" y="0"/>
            <a:chExt cx="6731000" cy="3175000"/>
          </a:xfrm>
        </p:grpSpPr>
        <p:grpSp>
          <p:nvGrpSpPr>
            <p:cNvPr name="Group 31" id="31"/>
            <p:cNvGrpSpPr/>
            <p:nvPr/>
          </p:nvGrpSpPr>
          <p:grpSpPr>
            <a:xfrm rot="0">
              <a:off x="0" y="0"/>
              <a:ext cx="6731000" cy="3175000"/>
              <a:chOff x="0" y="0"/>
              <a:chExt cx="6731000" cy="3175000"/>
            </a:xfrm>
          </p:grpSpPr>
          <p:sp>
            <p:nvSpPr>
              <p:cNvPr name="Freeform 32" id="32"/>
              <p:cNvSpPr/>
              <p:nvPr/>
            </p:nvSpPr>
            <p:spPr>
              <a:xfrm flipH="false" flipV="false" rot="0">
                <a:off x="0" y="0"/>
                <a:ext cx="6731000" cy="3175000"/>
              </a:xfrm>
              <a:custGeom>
                <a:avLst/>
                <a:gdLst/>
                <a:ahLst/>
                <a:cxnLst/>
                <a:rect r="r" b="b" t="t" l="l"/>
                <a:pathLst>
                  <a:path h="3175000" w="6731000">
                    <a:moveTo>
                      <a:pt x="0" y="0"/>
                    </a:moveTo>
                    <a:lnTo>
                      <a:pt x="6731000" y="0"/>
                    </a:lnTo>
                    <a:lnTo>
                      <a:pt x="6731000" y="3175000"/>
                    </a:lnTo>
                    <a:lnTo>
                      <a:pt x="0" y="3175000"/>
                    </a:lnTo>
                    <a:close/>
                  </a:path>
                </a:pathLst>
              </a:custGeom>
              <a:solidFill>
                <a:srgbClr val="FFFFFF"/>
              </a:solidFill>
              <a:ln cap="sq">
                <a:noFill/>
                <a:prstDash val="solid"/>
                <a:miter/>
              </a:ln>
            </p:spPr>
          </p:sp>
          <p:sp>
            <p:nvSpPr>
              <p:cNvPr name="TextBox 33" id="33"/>
              <p:cNvSpPr txBox="true"/>
              <p:nvPr/>
            </p:nvSpPr>
            <p:spPr>
              <a:xfrm>
                <a:off x="0" y="-38100"/>
                <a:ext cx="6731000" cy="3213100"/>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482600" y="495300"/>
              <a:ext cx="5715000" cy="363220"/>
            </a:xfrm>
            <a:prstGeom prst="rect">
              <a:avLst/>
            </a:prstGeom>
          </p:spPr>
          <p:txBody>
            <a:bodyPr anchor="t" rtlCol="false" tIns="0" lIns="0" bIns="0" rIns="0">
              <a:spAutoFit/>
            </a:bodyPr>
            <a:lstStyle/>
            <a:p>
              <a:pPr algn="l">
                <a:lnSpc>
                  <a:spcPts val="2310"/>
                </a:lnSpc>
              </a:pPr>
              <a:r>
                <a:rPr lang="en-US" sz="1650" spc="198" b="true">
                  <a:solidFill>
                    <a:srgbClr val="168AAD"/>
                  </a:solidFill>
                  <a:latin typeface="Noto Sans Bold"/>
                  <a:ea typeface="Noto Sans Bold"/>
                  <a:cs typeface="Noto Sans Bold"/>
                  <a:sym typeface="Noto Sans Bold"/>
                </a:rPr>
                <a:t>RESPONSIVE</a:t>
              </a:r>
            </a:p>
          </p:txBody>
        </p:sp>
        <p:sp>
          <p:nvSpPr>
            <p:cNvPr name="TextBox 35" id="35"/>
            <p:cNvSpPr txBox="true"/>
            <p:nvPr/>
          </p:nvSpPr>
          <p:spPr>
            <a:xfrm rot="0">
              <a:off x="482600" y="1362075"/>
              <a:ext cx="5715000" cy="451485"/>
            </a:xfrm>
            <a:prstGeom prst="rect">
              <a:avLst/>
            </a:prstGeom>
          </p:spPr>
          <p:txBody>
            <a:bodyPr anchor="t" rtlCol="false" tIns="0" lIns="0" bIns="0" rIns="0">
              <a:spAutoFit/>
            </a:bodyPr>
            <a:lstStyle/>
            <a:p>
              <a:pPr algn="l">
                <a:lnSpc>
                  <a:spcPts val="2520"/>
                </a:lnSpc>
              </a:pPr>
              <a:r>
                <a:rPr lang="en-US" sz="2400" b="true">
                  <a:solidFill>
                    <a:srgbClr val="102B3F"/>
                  </a:solidFill>
                  <a:latin typeface="Be Vietnam Ultra-Bold"/>
                  <a:ea typeface="Be Vietnam Ultra-Bold"/>
                  <a:cs typeface="Be Vietnam Ultra-Bold"/>
                  <a:sym typeface="Be Vietnam Ultra-Bold"/>
                </a:rPr>
                <a:t>Đa độ phân giải Android</a:t>
              </a:r>
            </a:p>
          </p:txBody>
        </p:sp>
      </p:grpSp>
      <p:sp>
        <p:nvSpPr>
          <p:cNvPr name="TextBox 36" id="36"/>
          <p:cNvSpPr txBox="true"/>
          <p:nvPr/>
        </p:nvSpPr>
        <p:spPr>
          <a:xfrm rot="0">
            <a:off x="2857500" y="8734425"/>
            <a:ext cx="12573000" cy="289560"/>
          </a:xfrm>
          <a:prstGeom prst="rect">
            <a:avLst/>
          </a:prstGeom>
        </p:spPr>
        <p:txBody>
          <a:bodyPr anchor="t" rtlCol="false" tIns="0" lIns="0" bIns="0" rIns="0">
            <a:spAutoFit/>
          </a:bodyPr>
          <a:lstStyle/>
          <a:p>
            <a:pPr algn="ctr">
              <a:lnSpc>
                <a:spcPts val="2415"/>
              </a:lnSpc>
            </a:pPr>
            <a:r>
              <a:rPr lang="en-US" b="true" sz="1725" spc="207">
                <a:solidFill>
                  <a:srgbClr val="168AAD"/>
                </a:solidFill>
                <a:latin typeface="Noto Sans Bold"/>
                <a:ea typeface="Noto Sans Bold"/>
                <a:cs typeface="Noto Sans Bold"/>
                <a:sym typeface="Noto Sans Bold"/>
              </a:rPr>
              <a:t>✓  DỮ LIỆU NHẤT QUÁN   ✓  THÔNG BÁO RÕ   ✓  GIAO DIỆN ỔN ĐỊNH</a:t>
            </a:r>
          </a:p>
        </p:txBody>
      </p:sp>
      <p:grpSp>
        <p:nvGrpSpPr>
          <p:cNvPr name="Group 37" id="37"/>
          <p:cNvGrpSpPr/>
          <p:nvPr/>
        </p:nvGrpSpPr>
        <p:grpSpPr>
          <a:xfrm rot="0">
            <a:off x="990600" y="9696450"/>
            <a:ext cx="16249650" cy="228600"/>
            <a:chOff x="0" y="0"/>
            <a:chExt cx="21666200" cy="304800"/>
          </a:xfrm>
        </p:grpSpPr>
        <p:sp>
          <p:nvSpPr>
            <p:cNvPr name="TextBox 38" id="38"/>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6D7B82"/>
                  </a:solidFill>
                  <a:latin typeface="Noto Sans Bold"/>
                  <a:ea typeface="Noto Sans Bold"/>
                  <a:cs typeface="Noto Sans Bold"/>
                  <a:sym typeface="Noto Sans Bold"/>
                </a:rPr>
                <a:t>BOOKFLOW  •  ĐỒ ÁN ỨNG DỤNG DI ĐỘNG</a:t>
              </a:r>
            </a:p>
          </p:txBody>
        </p:sp>
        <p:sp>
          <p:nvSpPr>
            <p:cNvPr name="TextBox 39" id="39"/>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102B3F"/>
                  </a:solidFill>
                  <a:latin typeface="Noto Sans Bold"/>
                  <a:ea typeface="Noto Sans Bold"/>
                  <a:cs typeface="Noto Sans Bold"/>
                  <a:sym typeface="Noto Sans Bold"/>
                </a:rPr>
                <a:t>16</a:t>
              </a:r>
            </a:p>
          </p:txBody>
        </p:sp>
      </p:grpSp>
    </p:spTree>
  </p:cSld>
  <p:clrMapOvr>
    <a:masterClrMapping/>
  </p:clrMapOvr>
</p:sld>
</file>

<file path=ppt/slides/slide17.xml><?xml version="1.0" encoding="utf-8"?>
<p:sld xmlns:p="http://schemas.openxmlformats.org/presentationml/2006/main" xmlns:a="http://schemas.openxmlformats.org/drawingml/2006/main">
  <p:cSld>
    <p:bg>
      <p:bgPr>
        <a:solidFill>
          <a:srgbClr val="071A2B"/>
        </a:solidFill>
      </p:bgPr>
    </p:bg>
    <p:spTree>
      <p:nvGrpSpPr>
        <p:cNvPr id="1" name=""/>
        <p:cNvGrpSpPr/>
        <p:nvPr/>
      </p:nvGrpSpPr>
      <p:grpSpPr>
        <a:xfrm>
          <a:off x="0" y="0"/>
          <a:ext cx="0" cy="0"/>
          <a:chOff x="0" y="0"/>
          <a:chExt cx="0" cy="0"/>
        </a:xfrm>
      </p:grpSpPr>
      <p:grpSp>
        <p:nvGrpSpPr>
          <p:cNvPr name="Group 2" id="2"/>
          <p:cNvGrpSpPr/>
          <p:nvPr/>
        </p:nvGrpSpPr>
        <p:grpSpPr>
          <a:xfrm rot="0">
            <a:off x="0" y="0"/>
            <a:ext cx="266700" cy="10287000"/>
            <a:chOff x="0" y="0"/>
            <a:chExt cx="355600" cy="13716000"/>
          </a:xfrm>
        </p:grpSpPr>
        <p:sp>
          <p:nvSpPr>
            <p:cNvPr name="Freeform 3" id="3"/>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55D6BE"/>
            </a:solidFill>
            <a:ln cap="sq">
              <a:noFill/>
              <a:prstDash val="solid"/>
              <a:miter/>
            </a:ln>
          </p:spPr>
        </p:sp>
        <p:sp>
          <p:nvSpPr>
            <p:cNvPr name="TextBox 4" id="4"/>
            <p:cNvSpPr txBox="true"/>
            <p:nvPr/>
          </p:nvSpPr>
          <p:spPr>
            <a:xfrm>
              <a:off x="0" y="-38100"/>
              <a:ext cx="355600" cy="13754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4287500" y="857250"/>
            <a:ext cx="3429000" cy="3429000"/>
            <a:chOff x="0" y="0"/>
            <a:chExt cx="4572000" cy="4572000"/>
          </a:xfrm>
        </p:grpSpPr>
        <p:sp>
          <p:nvSpPr>
            <p:cNvPr name="Freeform 6" id="6"/>
            <p:cNvSpPr/>
            <p:nvPr/>
          </p:nvSpPr>
          <p:spPr>
            <a:xfrm flipH="false" flipV="false" rot="0">
              <a:off x="0" y="0"/>
              <a:ext cx="4572000" cy="4572000"/>
            </a:xfrm>
            <a:custGeom>
              <a:avLst/>
              <a:gdLst/>
              <a:ahLst/>
              <a:cxnLst/>
              <a:rect r="r" b="b" t="t" l="l"/>
              <a:pathLst>
                <a:path h="4572000" w="4572000">
                  <a:moveTo>
                    <a:pt x="0" y="0"/>
                  </a:moveTo>
                  <a:lnTo>
                    <a:pt x="4572000" y="0"/>
                  </a:lnTo>
                  <a:lnTo>
                    <a:pt x="4572000" y="4572000"/>
                  </a:lnTo>
                  <a:lnTo>
                    <a:pt x="0" y="4572000"/>
                  </a:lnTo>
                  <a:close/>
                </a:path>
              </a:pathLst>
            </a:custGeom>
            <a:solidFill>
              <a:srgbClr val="168AAD">
                <a:alpha val="21961"/>
              </a:srgbClr>
            </a:solidFill>
            <a:ln cap="sq">
              <a:noFill/>
              <a:prstDash val="solid"/>
              <a:miter/>
            </a:ln>
          </p:spPr>
        </p:sp>
        <p:sp>
          <p:nvSpPr>
            <p:cNvPr name="TextBox 7" id="7"/>
            <p:cNvSpPr txBox="true"/>
            <p:nvPr/>
          </p:nvSpPr>
          <p:spPr>
            <a:xfrm>
              <a:off x="0" y="-38100"/>
              <a:ext cx="4572000" cy="46101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990600" y="1057275"/>
            <a:ext cx="6667500" cy="281940"/>
          </a:xfrm>
          <a:prstGeom prst="rect">
            <a:avLst/>
          </a:prstGeom>
        </p:spPr>
        <p:txBody>
          <a:bodyPr anchor="t" rtlCol="false" tIns="0" lIns="0" bIns="0" rIns="0">
            <a:spAutoFit/>
          </a:bodyPr>
          <a:lstStyle/>
          <a:p>
            <a:pPr algn="l">
              <a:lnSpc>
                <a:spcPts val="2310"/>
              </a:lnSpc>
            </a:pPr>
            <a:r>
              <a:rPr lang="en-US" sz="1650" spc="198" b="true">
                <a:solidFill>
                  <a:srgbClr val="55D6BE"/>
                </a:solidFill>
                <a:latin typeface="Noto Sans Bold"/>
                <a:ea typeface="Noto Sans Bold"/>
                <a:cs typeface="Noto Sans Bold"/>
                <a:sym typeface="Noto Sans Bold"/>
              </a:rPr>
              <a:t>KẾT LUẬN</a:t>
            </a:r>
          </a:p>
        </p:txBody>
      </p:sp>
      <p:sp>
        <p:nvSpPr>
          <p:cNvPr name="TextBox 9" id="9"/>
          <p:cNvSpPr txBox="true"/>
          <p:nvPr/>
        </p:nvSpPr>
        <p:spPr>
          <a:xfrm rot="0">
            <a:off x="990600" y="2047875"/>
            <a:ext cx="13525500" cy="1518285"/>
          </a:xfrm>
          <a:prstGeom prst="rect">
            <a:avLst/>
          </a:prstGeom>
        </p:spPr>
        <p:txBody>
          <a:bodyPr anchor="t" rtlCol="false" tIns="0" lIns="0" bIns="0" rIns="0">
            <a:spAutoFit/>
          </a:bodyPr>
          <a:lstStyle/>
          <a:p>
            <a:pPr algn="l">
              <a:lnSpc>
                <a:spcPts val="5985"/>
              </a:lnSpc>
            </a:pPr>
            <a:r>
              <a:rPr lang="en-US" sz="5700" b="true">
                <a:solidFill>
                  <a:srgbClr val="FFFFFF"/>
                </a:solidFill>
                <a:latin typeface="Be Vietnam Ultra-Bold"/>
                <a:ea typeface="Be Vietnam Ultra-Bold"/>
                <a:cs typeface="Be Vietnam Ultra-Bold"/>
                <a:sym typeface="Be Vietnam Ultra-Bold"/>
              </a:rPr>
              <a:t>KHÉP KÍN HÔM NAY.</a:t>
            </a:r>
          </a:p>
          <a:p>
            <a:pPr algn="l">
              <a:lnSpc>
                <a:spcPts val="5985"/>
              </a:lnSpc>
            </a:pPr>
            <a:r>
              <a:rPr lang="en-US" sz="5700" b="true">
                <a:solidFill>
                  <a:srgbClr val="FFFFFF"/>
                </a:solidFill>
                <a:latin typeface="Be Vietnam Ultra-Bold"/>
                <a:ea typeface="Be Vietnam Ultra-Bold"/>
                <a:cs typeface="Be Vietnam Ultra-Bold"/>
                <a:sym typeface="Be Vietnam Ultra-Bold"/>
              </a:rPr>
              <a:t>THÔNG MINH HƠN NGÀY MAI.</a:t>
            </a:r>
          </a:p>
        </p:txBody>
      </p:sp>
      <p:sp>
        <p:nvSpPr>
          <p:cNvPr name="TextBox 10" id="10"/>
          <p:cNvSpPr txBox="true"/>
          <p:nvPr/>
        </p:nvSpPr>
        <p:spPr>
          <a:xfrm rot="0">
            <a:off x="990600" y="4305300"/>
            <a:ext cx="10287000" cy="747713"/>
          </a:xfrm>
          <a:prstGeom prst="rect">
            <a:avLst/>
          </a:prstGeom>
        </p:spPr>
        <p:txBody>
          <a:bodyPr anchor="t" rtlCol="false" tIns="0" lIns="0" bIns="0" rIns="0">
            <a:spAutoFit/>
          </a:bodyPr>
          <a:lstStyle/>
          <a:p>
            <a:pPr algn="l">
              <a:lnSpc>
                <a:spcPts val="3037"/>
              </a:lnSpc>
            </a:pPr>
            <a:r>
              <a:rPr lang="en-US" sz="2250">
                <a:solidFill>
                  <a:srgbClr val="C9D8DF"/>
                </a:solidFill>
                <a:latin typeface="Noto Sans"/>
                <a:ea typeface="Noto Sans"/>
                <a:cs typeface="Noto Sans"/>
                <a:sym typeface="Noto Sans"/>
              </a:rPr>
              <a:t>Hệ thống bán sách chuẩn hóa, ổn định và thân thiện — kết nối khách hàng, đơn hàng, kho và tài chính trên một nền tảng.</a:t>
            </a:r>
          </a:p>
        </p:txBody>
      </p:sp>
      <p:sp>
        <p:nvSpPr>
          <p:cNvPr name="AutoShape 11" id="11"/>
          <p:cNvSpPr/>
          <p:nvPr/>
        </p:nvSpPr>
        <p:spPr>
          <a:xfrm>
            <a:off x="990600" y="5953125"/>
            <a:ext cx="16249650" cy="0"/>
          </a:xfrm>
          <a:prstGeom prst="line">
            <a:avLst/>
          </a:prstGeom>
          <a:ln cap="flat" w="19050">
            <a:solidFill>
              <a:srgbClr val="6D7B82"/>
            </a:solidFill>
            <a:prstDash val="solid"/>
            <a:headEnd type="none" len="sm" w="sm"/>
            <a:tailEnd type="none" len="sm" w="sm"/>
          </a:ln>
        </p:spPr>
      </p:sp>
      <p:sp>
        <p:nvSpPr>
          <p:cNvPr name="TextBox 12" id="12"/>
          <p:cNvSpPr txBox="true"/>
          <p:nvPr/>
        </p:nvSpPr>
        <p:spPr>
          <a:xfrm rot="0">
            <a:off x="990600" y="6410325"/>
            <a:ext cx="4572000" cy="320516"/>
          </a:xfrm>
          <a:prstGeom prst="rect">
            <a:avLst/>
          </a:prstGeom>
        </p:spPr>
        <p:txBody>
          <a:bodyPr anchor="t" rtlCol="false" tIns="0" lIns="0" bIns="0" rIns="0">
            <a:spAutoFit/>
          </a:bodyPr>
          <a:lstStyle/>
          <a:p>
            <a:pPr algn="l">
              <a:lnSpc>
                <a:spcPts val="2441"/>
              </a:lnSpc>
            </a:pPr>
            <a:r>
              <a:rPr lang="en-US" sz="2325" b="true">
                <a:solidFill>
                  <a:srgbClr val="55D6BE"/>
                </a:solidFill>
                <a:latin typeface="Be Vietnam Ultra-Bold"/>
                <a:ea typeface="Be Vietnam Ultra-Bold"/>
                <a:cs typeface="Be Vietnam Ultra-Bold"/>
                <a:sym typeface="Be Vietnam Ultra-Bold"/>
              </a:rPr>
              <a:t>VNPAY / MoMo</a:t>
            </a:r>
          </a:p>
        </p:txBody>
      </p:sp>
      <p:sp>
        <p:nvSpPr>
          <p:cNvPr name="TextBox 13" id="13"/>
          <p:cNvSpPr txBox="true"/>
          <p:nvPr/>
        </p:nvSpPr>
        <p:spPr>
          <a:xfrm rot="0">
            <a:off x="5905500" y="6410325"/>
            <a:ext cx="4572000" cy="320516"/>
          </a:xfrm>
          <a:prstGeom prst="rect">
            <a:avLst/>
          </a:prstGeom>
        </p:spPr>
        <p:txBody>
          <a:bodyPr anchor="t" rtlCol="false" tIns="0" lIns="0" bIns="0" rIns="0">
            <a:spAutoFit/>
          </a:bodyPr>
          <a:lstStyle/>
          <a:p>
            <a:pPr algn="l">
              <a:lnSpc>
                <a:spcPts val="2441"/>
              </a:lnSpc>
            </a:pPr>
            <a:r>
              <a:rPr lang="en-US" sz="2325" b="true">
                <a:solidFill>
                  <a:srgbClr val="F2C14E"/>
                </a:solidFill>
                <a:latin typeface="Be Vietnam Ultra-Bold"/>
                <a:ea typeface="Be Vietnam Ultra-Bold"/>
                <a:cs typeface="Be Vietnam Ultra-Bold"/>
                <a:sym typeface="Be Vietnam Ultra-Bold"/>
              </a:rPr>
              <a:t>AI đề xuất sách</a:t>
            </a:r>
          </a:p>
        </p:txBody>
      </p:sp>
      <p:sp>
        <p:nvSpPr>
          <p:cNvPr name="TextBox 14" id="14"/>
          <p:cNvSpPr txBox="true"/>
          <p:nvPr/>
        </p:nvSpPr>
        <p:spPr>
          <a:xfrm rot="0">
            <a:off x="10858500" y="6410325"/>
            <a:ext cx="5715000" cy="320516"/>
          </a:xfrm>
          <a:prstGeom prst="rect">
            <a:avLst/>
          </a:prstGeom>
        </p:spPr>
        <p:txBody>
          <a:bodyPr anchor="t" rtlCol="false" tIns="0" lIns="0" bIns="0" rIns="0">
            <a:spAutoFit/>
          </a:bodyPr>
          <a:lstStyle/>
          <a:p>
            <a:pPr algn="l">
              <a:lnSpc>
                <a:spcPts val="2441"/>
              </a:lnSpc>
            </a:pPr>
            <a:r>
              <a:rPr lang="en-US" sz="2325" b="true">
                <a:solidFill>
                  <a:srgbClr val="FF6B5B"/>
                </a:solidFill>
                <a:latin typeface="Be Vietnam Ultra-Bold"/>
                <a:ea typeface="Be Vietnam Ultra-Bold"/>
                <a:cs typeface="Be Vietnam Ultra-Bold"/>
                <a:sym typeface="Be Vietnam Ultra-Bold"/>
              </a:rPr>
              <a:t>Quét ISBN bằng camera</a:t>
            </a:r>
          </a:p>
        </p:txBody>
      </p:sp>
      <p:sp>
        <p:nvSpPr>
          <p:cNvPr name="TextBox 15" id="15"/>
          <p:cNvSpPr txBox="true"/>
          <p:nvPr/>
        </p:nvSpPr>
        <p:spPr>
          <a:xfrm rot="0">
            <a:off x="990600" y="8058150"/>
            <a:ext cx="14287500" cy="744855"/>
          </a:xfrm>
          <a:prstGeom prst="rect">
            <a:avLst/>
          </a:prstGeom>
        </p:spPr>
        <p:txBody>
          <a:bodyPr anchor="t" rtlCol="false" tIns="0" lIns="0" bIns="0" rIns="0">
            <a:spAutoFit/>
          </a:bodyPr>
          <a:lstStyle/>
          <a:p>
            <a:pPr algn="l">
              <a:lnSpc>
                <a:spcPts val="3045"/>
              </a:lnSpc>
            </a:pPr>
            <a:r>
              <a:rPr lang="en-US" sz="2175" spc="261" b="true">
                <a:solidFill>
                  <a:srgbClr val="FFFFFF"/>
                </a:solidFill>
                <a:latin typeface="Noto Sans Bold"/>
                <a:ea typeface="Noto Sans Bold"/>
                <a:cs typeface="Noto Sans Bold"/>
                <a:sym typeface="Noto Sans Bold"/>
              </a:rPr>
              <a:t>CẢM ƠN HỘI ĐỒNG</a:t>
            </a:r>
          </a:p>
          <a:p>
            <a:pPr algn="l">
              <a:lnSpc>
                <a:spcPts val="3045"/>
              </a:lnSpc>
            </a:pPr>
            <a:r>
              <a:rPr lang="en-US" sz="2175" spc="261" b="true">
                <a:solidFill>
                  <a:srgbClr val="FFFFFF"/>
                </a:solidFill>
                <a:latin typeface="Noto Sans Bold"/>
                <a:ea typeface="Noto Sans Bold"/>
                <a:cs typeface="Noto Sans Bold"/>
                <a:sym typeface="Noto Sans Bold"/>
              </a:rPr>
              <a:t>Q&amp;A — KÍNH MỜI ĐẶT CÂU HỎI</a:t>
            </a:r>
          </a:p>
        </p:txBody>
      </p:sp>
      <p:grpSp>
        <p:nvGrpSpPr>
          <p:cNvPr name="Group 16" id="16"/>
          <p:cNvGrpSpPr/>
          <p:nvPr/>
        </p:nvGrpSpPr>
        <p:grpSpPr>
          <a:xfrm rot="0">
            <a:off x="990600" y="9696450"/>
            <a:ext cx="16249650" cy="228600"/>
            <a:chOff x="0" y="0"/>
            <a:chExt cx="21666200" cy="304800"/>
          </a:xfrm>
        </p:grpSpPr>
        <p:sp>
          <p:nvSpPr>
            <p:cNvPr name="TextBox 17" id="17"/>
            <p:cNvSpPr txBox="true"/>
            <p:nvPr/>
          </p:nvSpPr>
          <p:spPr>
            <a:xfrm rot="0">
              <a:off x="0" y="31750"/>
              <a:ext cx="11430000" cy="257810"/>
            </a:xfrm>
            <a:prstGeom prst="rect">
              <a:avLst/>
            </a:prstGeom>
          </p:spPr>
          <p:txBody>
            <a:bodyPr anchor="t" rtlCol="false" tIns="0" lIns="0" bIns="0" rIns="0">
              <a:spAutoFit/>
            </a:bodyPr>
            <a:lstStyle/>
            <a:p>
              <a:pPr algn="l">
                <a:lnSpc>
                  <a:spcPts val="1679"/>
                </a:lnSpc>
              </a:pPr>
              <a:r>
                <a:rPr lang="en-US" sz="1200" spc="144" b="true">
                  <a:solidFill>
                    <a:srgbClr val="55D6BE"/>
                  </a:solidFill>
                  <a:latin typeface="Noto Sans Bold"/>
                  <a:ea typeface="Noto Sans Bold"/>
                  <a:cs typeface="Noto Sans Bold"/>
                  <a:sym typeface="Noto Sans Bold"/>
                </a:rPr>
                <a:t>BOOKFLOW  •  ĐỒ ÁN ỨNG DỤNG DI ĐỘNG</a:t>
              </a:r>
            </a:p>
          </p:txBody>
        </p:sp>
        <p:sp>
          <p:nvSpPr>
            <p:cNvPr name="TextBox 18" id="18"/>
            <p:cNvSpPr txBox="true"/>
            <p:nvPr/>
          </p:nvSpPr>
          <p:spPr>
            <a:xfrm rot="0">
              <a:off x="20396200" y="-28575"/>
              <a:ext cx="1270000" cy="333375"/>
            </a:xfrm>
            <a:prstGeom prst="rect">
              <a:avLst/>
            </a:prstGeom>
          </p:spPr>
          <p:txBody>
            <a:bodyPr anchor="t" rtlCol="false" tIns="0" lIns="0" bIns="0" rIns="0">
              <a:spAutoFit/>
            </a:bodyPr>
            <a:lstStyle/>
            <a:p>
              <a:pPr algn="r">
                <a:lnSpc>
                  <a:spcPts val="2100"/>
                </a:lnSpc>
              </a:pPr>
              <a:r>
                <a:rPr lang="en-US" b="true" sz="1500" spc="179">
                  <a:solidFill>
                    <a:srgbClr val="FFFFFF"/>
                  </a:solidFill>
                  <a:latin typeface="Noto Sans Bold"/>
                  <a:ea typeface="Noto Sans Bold"/>
                  <a:cs typeface="Noto Sans Bold"/>
                  <a:sym typeface="Noto Sans Bold"/>
                </a:rPr>
                <a:t>17</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DAHVLWV_Gt4</dc:identifier>
  <dcterms:modified xsi:type="dcterms:W3CDTF">2011-08-01T06:04:30Z</dcterms:modified>
  <cp:revision>1</cp:revision>
</cp:coreProperties>
</file>